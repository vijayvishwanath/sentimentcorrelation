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22C"/>
                </a:solidFill>
                <a:latin typeface="Arial"/>
              </a:defRPr>
            </a:pPr>
            <a:r>
              <a:rPr sz="1200" b="0" i="0" u="none" strike="noStrike">
                <a:solidFill>
                  <a:srgbClr val="13222C"/>
                </a:solidFill>
                <a:latin typeface="Arial"/>
              </a:rPr>
              <a:t>Average frustration, worst vs best telemetry bucket</a:t>
            </a:r>
          </a:p>
        </c:rich>
      </c:tx>
      <c:layout/>
      <c:overlay val="0"/>
    </c:title>
    <c:autoTitleDeleted val="0"/>
    <c:plotArea>
      <c:layout/>
      <c:barChart>
        <c:barDir val="bar"/>
        <c:grouping val="clustered"/>
        <c:varyColors val="0"/>
        <c:ser>
          <c:idx val="0"/>
          <c:order val="0"/>
          <c:tx>
            <c:strRef>
              <c:f>Sheet1!$B$1</c:f>
              <c:strCache>
                <c:ptCount val="1"/>
                <c:pt idx="0">
                  <c:v>Frustration lift</c:v>
                </c:pt>
              </c:strCache>
            </c:strRef>
          </c:tx>
          <c:spPr>
            <a:solidFill>
              <a:srgbClr val="14A89E"/>
            </a:solidFill>
            <a:effectLst/>
          </c:spPr>
          <c:invertIfNegative val="0"/>
          <c:dLbls>
            <c:numFmt formatCode="0.0&quot;×&quot;" sourceLinked="0"/>
            <c:txPr>
              <a:bodyPr/>
              <a:lstStyle/>
              <a:p>
                <a:pPr>
                  <a:defRPr b="1" i="0" strike="noStrike" sz="1200" u="none">
                    <a:solidFill>
                      <a:srgbClr val="13222C"/>
                    </a:solidFill>
                    <a:latin typeface="Arial"/>
                  </a:defRPr>
                </a:pPr>
              </a:p>
            </c:txPr>
            <c:showLegendKey val="0"/>
            <c:showVal val="1"/>
            <c:showCatName val="0"/>
            <c:showSerName val="0"/>
            <c:showPercent val="0"/>
            <c:showBubbleSize val="0"/>
            <c:showLeaderLines val="0"/>
          </c:dLbls>
          <c:cat>
            <c:multiLvlStrRef>
              <c:f>Sheet1!$A$2:$A$5</c:f>
              <c:multiLvlStrCache>
                <c:ptCount val="4"/>
                <c:lvl>
                  <c:pt idx="0">
                    <c:v>Boot &gt; 85 s</c:v>
                  </c:pt>
                  <c:pt idx="1">
                    <c:v>Latency &gt; 160 ms</c:v>
                  </c:pt>
                  <c:pt idx="2">
                    <c:v>App hangs &gt; 6 / wk</c:v>
                  </c:pt>
                  <c:pt idx="3">
                    <c:v>Hardware health &lt; 52</c:v>
                  </c:pt>
                </c:lvl>
              </c:multiLvlStrCache>
            </c:multiLvlStrRef>
          </c:cat>
          <c:val>
            <c:numRef>
              <c:f>Sheet1!$B$2:$B$5</c:f>
              <c:numCache>
                <c:formatCode>General</c:formatCode>
                <c:ptCount val="4"/>
                <c:pt idx="0">
                  <c:v>1.9</c:v>
                </c:pt>
                <c:pt idx="1">
                  <c:v>1.9</c:v>
                </c:pt>
                <c:pt idx="2">
                  <c:v>1.8</c:v>
                </c:pt>
                <c:pt idx="3">
                  <c:v>1.6</c:v>
                </c:pt>
              </c:numCache>
            </c:numRef>
          </c:val>
        </c:ser>
        <c:dLbls>
          <c:numFmt formatCode="0.0&quot;×&quot;" sourceLinked="0"/>
          <c:txPr>
            <a:bodyPr/>
            <a:lstStyle/>
            <a:p>
              <a:pPr>
                <a:defRPr b="1" i="0" strike="noStrike" sz="1200" u="none">
                  <a:solidFill>
                    <a:srgbClr val="13222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E5260"/>
                </a:solidFill>
                <a:latin typeface="Arial"/>
              </a:defRPr>
            </a:pPr>
            <a:endParaRPr lang="en-US"/>
          </a:p>
        </c:txPr>
        <c:crossAx val="2094734552"/>
        <c:crosses val="autoZero"/>
        <c:auto val="1"/>
        <c:lblAlgn val="ctr"/>
        <c:noMultiLvlLbl val="1"/>
      </c:catAx>
      <c:valAx>
        <c:axId val="2094734552"/>
        <c:scaling>
          <c:orientation val="minMax"/>
          <c:max val="2.3"/>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ML model</c:v>
                </c:pt>
              </c:strCache>
            </c:strRef>
          </c:tx>
          <c:spPr>
            <a:solidFill>
              <a:srgbClr val="14A89E"/>
            </a:solidFill>
            <a:effectLst/>
          </c:spPr>
          <c:invertIfNegative val="0"/>
          <c:dLbls>
            <c:numFmt formatCode="0.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Tickets caught (%)</c:v>
                  </c:pt>
                  <c:pt idx="1">
                    <c:v>Precision (%)</c:v>
                  </c:pt>
                  <c:pt idx="2">
                    <c:v>PR-AUC (×100)</c:v>
                  </c:pt>
                </c:lvl>
              </c:multiLvlStrCache>
            </c:multiLvlStrRef>
          </c:cat>
          <c:val>
            <c:numRef>
              <c:f>Sheet1!$B$2:$B$4</c:f>
              <c:numCache>
                <c:formatCode>General</c:formatCode>
                <c:ptCount val="3"/>
                <c:pt idx="0">
                  <c:v>72.3</c:v>
                </c:pt>
                <c:pt idx="1">
                  <c:v>39.5</c:v>
                </c:pt>
                <c:pt idx="2">
                  <c:v>45.5</c:v>
                </c:pt>
              </c:numCache>
            </c:numRef>
          </c:val>
        </c:ser>
        <c:ser>
          <c:idx val="1"/>
          <c:order val="1"/>
          <c:tx>
            <c:strRef>
              <c:f>Sheet1!$C$1</c:f>
              <c:strCache>
                <c:ptCount val="1"/>
                <c:pt idx="0">
                  <c:v>Current rules</c:v>
                </c:pt>
              </c:strCache>
            </c:strRef>
          </c:tx>
          <c:spPr>
            <a:solidFill>
              <a:srgbClr val="5F7885"/>
            </a:solidFill>
            <a:effectLst/>
          </c:spPr>
          <c:invertIfNegative val="0"/>
          <c:dLbls>
            <c:numFmt formatCode="0.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Tickets caught (%)</c:v>
                  </c:pt>
                  <c:pt idx="1">
                    <c:v>Precision (%)</c:v>
                  </c:pt>
                  <c:pt idx="2">
                    <c:v>PR-AUC (×100)</c:v>
                  </c:pt>
                </c:lvl>
              </c:multiLvlStrCache>
            </c:multiLvlStrRef>
          </c:cat>
          <c:val>
            <c:numRef>
              <c:f>Sheet1!$C$2:$C$4</c:f>
              <c:numCache>
                <c:formatCode>General</c:formatCode>
                <c:ptCount val="3"/>
                <c:pt idx="0">
                  <c:v>48.8</c:v>
                </c:pt>
                <c:pt idx="1">
                  <c:v>26.7</c:v>
                </c:pt>
                <c:pt idx="2">
                  <c:v>25</c:v>
                </c:pt>
              </c:numCache>
            </c:numRef>
          </c:val>
        </c:ser>
        <c:dLbls>
          <c:numFmt formatCode="0.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C9DCE3"/>
                </a:solidFill>
                <a:latin typeface="Arial"/>
              </a:defRPr>
            </a:pPr>
            <a:endParaRPr lang="en-US"/>
          </a:p>
        </c:txPr>
        <c:crossAx val="2094734552"/>
        <c:crosses val="autoZero"/>
        <c:auto val="1"/>
        <c:lblAlgn val="ctr"/>
        <c:noMultiLvlLbl val="1"/>
      </c:catAx>
      <c:valAx>
        <c:axId val="2094734552"/>
        <c:scaling>
          <c:orientation val="minMax"/>
          <c:max val="8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9DCE3"/>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Boot duration (s)</c:v>
                </c:pt>
              </c:strCache>
            </c:strRef>
          </c:tx>
          <c:spPr>
            <a:solidFill>
              <a:srgbClr val="14A89E"/>
            </a:solidFill>
            <a:ln w="38100" cap="flat">
              <a:solidFill>
                <a:srgbClr val="14A8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4A89E"/>
              </a:solidFill>
              <a:ln w="9525" cap="flat">
                <a:solidFill>
                  <a:srgbClr val="14A89E"/>
                </a:solidFill>
                <a:prstDash val="solid"/>
                <a:round/>
              </a:ln>
              <a:effectLst/>
            </c:spPr>
          </c:marker>
          <c:cat>
            <c:multiLvlStrRef>
              <c:f>Sheet1!$A$2:$A$8</c:f>
              <c:multiLvlStrCache>
                <c:ptCount val="7"/>
                <c:lvl>
                  <c:pt idx="0">
                    <c:v>W20</c:v>
                  </c:pt>
                  <c:pt idx="1">
                    <c:v>W21</c:v>
                  </c:pt>
                  <c:pt idx="2">
                    <c:v>W22</c:v>
                  </c:pt>
                  <c:pt idx="3">
                    <c:v>W23</c:v>
                  </c:pt>
                  <c:pt idx="4">
                    <c:v>W24</c:v>
                  </c:pt>
                  <c:pt idx="5">
                    <c:v>W25</c:v>
                  </c:pt>
                  <c:pt idx="6">
                    <c:v>W26</c:v>
                  </c:pt>
                </c:lvl>
              </c:multiLvlStrCache>
            </c:multiLvlStrRef>
          </c:cat>
          <c:val>
            <c:numRef>
              <c:f>Sheet1!$B$2:$B$8</c:f>
              <c:numCache>
                <c:formatCode>General</c:formatCode>
                <c:ptCount val="7"/>
                <c:pt idx="0">
                  <c:v>25.9</c:v>
                </c:pt>
                <c:pt idx="1">
                  <c:v>29.9</c:v>
                </c:pt>
                <c:pt idx="2">
                  <c:v>35.6</c:v>
                </c:pt>
                <c:pt idx="3">
                  <c:v>47.6</c:v>
                </c:pt>
                <c:pt idx="4">
                  <c:v>69.3</c:v>
                </c:pt>
                <c:pt idx="5">
                  <c:v>90.3</c:v>
                </c:pt>
                <c:pt idx="6">
                  <c:v>108.9</c:v>
                </c:pt>
              </c:numCache>
            </c:numRef>
          </c:val>
          <c:smooth val="0"/>
        </c:ser>
        <c:ser>
          <c:idx val="1"/>
          <c:order val="1"/>
          <c:tx>
            <c:strRef>
              <c:f>Sheet1!$C$1</c:f>
              <c:strCache>
                <c:ptCount val="1"/>
                <c:pt idx="0">
                  <c:v>Predicted risk of a frustrated ticket next week (%)</c:v>
                </c:pt>
              </c:strCache>
            </c:strRef>
          </c:tx>
          <c:spPr>
            <a:solidFill>
              <a:srgbClr val="E4574B"/>
            </a:solidFill>
            <a:ln w="38100" cap="flat">
              <a:solidFill>
                <a:srgbClr val="E4574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4574B"/>
              </a:solidFill>
              <a:ln w="9525" cap="flat">
                <a:solidFill>
                  <a:srgbClr val="E4574B"/>
                </a:solidFill>
                <a:prstDash val="solid"/>
                <a:round/>
              </a:ln>
              <a:effectLst/>
            </c:spPr>
          </c:marker>
          <c:cat>
            <c:multiLvlStrRef>
              <c:f>Sheet1!$A$2:$A$8</c:f>
              <c:multiLvlStrCache>
                <c:ptCount val="7"/>
                <c:lvl>
                  <c:pt idx="0">
                    <c:v>W20</c:v>
                  </c:pt>
                  <c:pt idx="1">
                    <c:v>W21</c:v>
                  </c:pt>
                  <c:pt idx="2">
                    <c:v>W22</c:v>
                  </c:pt>
                  <c:pt idx="3">
                    <c:v>W23</c:v>
                  </c:pt>
                  <c:pt idx="4">
                    <c:v>W24</c:v>
                  </c:pt>
                  <c:pt idx="5">
                    <c:v>W25</c:v>
                  </c:pt>
                  <c:pt idx="6">
                    <c:v>W26</c:v>
                  </c:pt>
                </c:lvl>
              </c:multiLvlStrCache>
            </c:multiLvlStrRef>
          </c:cat>
          <c:val>
            <c:numRef>
              <c:f>Sheet1!$C$2:$C$8</c:f>
              <c:numCache>
                <c:formatCode>General</c:formatCode>
                <c:ptCount val="7"/>
                <c:pt idx="0">
                  <c:v>0</c:v>
                </c:pt>
                <c:pt idx="1">
                  <c:v>0.1</c:v>
                </c:pt>
                <c:pt idx="2">
                  <c:v>0.1</c:v>
                </c:pt>
                <c:pt idx="3">
                  <c:v>1.4</c:v>
                </c:pt>
                <c:pt idx="4">
                  <c:v>13.2</c:v>
                </c:pt>
                <c:pt idx="5">
                  <c:v>38.6</c:v>
                </c:pt>
                <c:pt idx="6">
                  <c:v>74.4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E5260"/>
                </a:solidFill>
                <a:latin typeface="Arial"/>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6350" cap="flat">
              <a:solidFill>
                <a:srgbClr val="E3EC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B8E9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3E5260"/>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3222C"/>
                </a:solidFill>
                <a:latin typeface="Arial"/>
              </a:defRPr>
            </a:pPr>
            <a:r>
              <a:rPr sz="1100" b="0" i="0" u="none" strike="noStrike">
                <a:solidFill>
                  <a:srgbClr val="13222C"/>
                </a:solidFill>
                <a:latin typeface="Arial"/>
              </a:rPr>
              <a:t>Points each component adds (fleet)</a:t>
            </a:r>
          </a:p>
        </c:rich>
      </c:tx>
      <c:layout/>
      <c:overlay val="0"/>
    </c:title>
    <c:autoTitleDeleted val="0"/>
    <c:plotArea>
      <c:layout/>
      <c:barChart>
        <c:barDir val="bar"/>
        <c:grouping val="clustered"/>
        <c:varyColors val="0"/>
        <c:ser>
          <c:idx val="0"/>
          <c:order val="0"/>
          <c:tx>
            <c:strRef>
              <c:f>Sheet1!$B$1</c:f>
              <c:strCache>
                <c:ptCount val="1"/>
                <c:pt idx="0">
                  <c:v>Points contributed</c:v>
                </c:pt>
              </c:strCache>
            </c:strRef>
          </c:tx>
          <c:spPr>
            <a:solidFill>
              <a:srgbClr val="14A89E"/>
            </a:solidFill>
            <a:effectLst/>
          </c:spPr>
          <c:invertIfNegative val="0"/>
          <c:dLbls>
            <c:numFmt formatCode="0.0" sourceLinked="0"/>
            <c:txPr>
              <a:bodyPr/>
              <a:lstStyle/>
              <a:p>
                <a:pPr>
                  <a:defRPr b="1" i="0" strike="noStrike" sz="1100" u="none">
                    <a:solidFill>
                      <a:srgbClr val="13222C"/>
                    </a:solidFill>
                    <a:latin typeface="Arial"/>
                  </a:defRPr>
                </a:pPr>
              </a:p>
            </c:txPr>
            <c:showLegendKey val="0"/>
            <c:showVal val="1"/>
            <c:showCatName val="0"/>
            <c:showSerName val="0"/>
            <c:showPercent val="0"/>
            <c:showBubbleSize val="0"/>
            <c:showLeaderLines val="0"/>
          </c:dLbls>
          <c:cat>
            <c:multiLvlStrRef>
              <c:f>Sheet1!$A$2:$A$6</c:f>
              <c:multiLvlStrCache>
                <c:ptCount val="5"/>
                <c:lvl>
                  <c:pt idx="0">
                    <c:v>EEI · Experience Index 94.3</c:v>
                  </c:pt>
                  <c:pt idx="1">
                    <c:v>DHS · Device Health 90.5</c:v>
                  </c:pt>
                  <c:pt idx="2">
                    <c:v>RSS · Remediation Success 54.0</c:v>
                  </c:pt>
                  <c:pt idx="3">
                    <c:v>TRE · Resolution Efficiency 78.4</c:v>
                  </c:pt>
                  <c:pt idx="4">
                    <c:v>STS · Sentiment Trend 50.3</c:v>
                  </c:pt>
                </c:lvl>
              </c:multiLvlStrCache>
            </c:multiLvlStrRef>
          </c:cat>
          <c:val>
            <c:numRef>
              <c:f>Sheet1!$B$2:$B$6</c:f>
              <c:numCache>
                <c:formatCode>General</c:formatCode>
                <c:ptCount val="5"/>
                <c:pt idx="0">
                  <c:v>33</c:v>
                </c:pt>
                <c:pt idx="1">
                  <c:v>22.6</c:v>
                </c:pt>
                <c:pt idx="2">
                  <c:v>10.8</c:v>
                </c:pt>
                <c:pt idx="3">
                  <c:v>7.8</c:v>
                </c:pt>
                <c:pt idx="4">
                  <c:v>5</c:v>
                </c:pt>
              </c:numCache>
            </c:numRef>
          </c:val>
        </c:ser>
        <c:dLbls>
          <c:numFmt formatCode="0.0" sourceLinked="0"/>
          <c:txPr>
            <a:bodyPr/>
            <a:lstStyle/>
            <a:p>
              <a:pPr>
                <a:defRPr b="1" i="0" strike="noStrike" sz="1100" u="none">
                  <a:solidFill>
                    <a:srgbClr val="13222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3E5260"/>
                </a:solidFill>
                <a:latin typeface="Arial"/>
              </a:defRPr>
            </a:pPr>
            <a:endParaRPr lang="en-US"/>
          </a:p>
        </c:txPr>
        <c:crossAx val="2094734552"/>
        <c:crosses val="autoZero"/>
        <c:auto val="1"/>
        <c:lblAlgn val="ctr"/>
        <c:noMultiLvlLbl val="1"/>
      </c:catAx>
      <c:valAx>
        <c:axId val="2094734552"/>
        <c:scaling>
          <c:orientation val="minMax"/>
          <c:max val="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tagline. 'Every IT team has two sources of truth about employee experience: what people say, and what their devices do. They never meet. We joined them, and taught the system to see the next problem coming.' Pause,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our own analysis of the fleet. Nearly half of all contacts were repeats. Slow boots nearly double frustration. Policy drift silently creates login tickets. The root cause: the human signal and the machine signal live in different tools, success is measured by closure, and the desk only reacts.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When we join each ticket to that device's telemetry for the same week, the correlation is 0.83, which is strong. Neither signal is enough alone; together they explain the experience. Everything else in DEX Sentinel builds on this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DEX Sentinel is four moves in a loop. Fuse the signals. Diagnose the root cause. Predict who will struggle next, which is new in this version. Prove the fix worked. Then the loop repeats with fresh data. On top sits the DEX Copilot for leaders and analysts who just want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that the join works. Devices booting over 85 seconds carry 1.9 times the frustration of fast ones, and latency and hangs are similar. The impact ranking tells leadership where to invest: network latency drives about 40 excess tickets at average frustration 82. All classical, auditable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ticket from the dataset. The words alone say 'angry about Outlook'. The telemetry says nine app hangs, past critical. Fused, the engine gives Application Crash at 100% likelihood and 99% confidence, the runbook fix, and the expected outcome from eight past fixes. An ML model gives a second opinion, and it 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If the service desk acts on just the top 5% of devices each week, the model catches 72% of next week's frustrated tickets in advance. Today's rules catch 49% at the same effort. It's tested out-of-time, only on weeks the model never saw, and it's calibrated, so 25% risk really means 25%. Anyone can regenerate this benchmark with seed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Proactive Watchlist, then click DEV-2462. Boot time climbed from 36 to 109 seconds in four weeks. In week 25 the model already put this employee at 38.6% risk, Elevated. In week 26 the ticket arrived: 'This is urgent, I'm losing hours to this every week.' Every prediction explains itself and prices the fix. Acting on the week-25 watchlist would have got ahead of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 success by whether the experience recovered, not by ticket closure. Across 46 fixes, repeat contacts fell from 47% to under 1%, tickets per week dropped by nearly two-thirds, and the DEX Score rose from 64 to 87.6, a 36.9% recovery. That's about $115,000 a year of proven value, with every cost assumption editable in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DEX Score is a weighted sum of five 0-to-100 components. The fleet scores 79.3, Good. The breakdown shows exactly where to act: remediation success is only 54 because nearly half of contacts are repeats. It works for any department, device model or single device, over any week range, and there's a what-if simulator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trust in from the start. The Copilot is an agent that can only reach data through eight tools, so it can't make up numbers, and it cites runbooks. Without an AI key it still works offline. Across the product: explainable scores, ML measured against rules, calibrated risk, grounded answers, privacy by default, and a human confirming before any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exports from any ITSM or DEX tool come in as Excel or CSV. Column names are mapped automatically. The analytical store joins each ticket to its telemetry, and six engines run on top, including the new LightGBM predictor. FastAPI serves 38 endpoints to a 12-screen React UI and to the Copilot. Uploads are validated off to the side and swapped in atomically, and models retrain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mock-up. It's a working product: a Python and FastAPI backend, scikit-learn and LightGBM for machine learning, Claude for the Copilot, and a React front end. There are 81 automated tests, including one proving the model never sees the future. It analyses 163 MB in about 80 seconds, deploys as one container to Cloud Run, and runs fully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your evaluation easy, here is the evidence against each criterion: the innovation of predicting frustration before the call; technical depth across statistics, ML and agentic AI; measurable impact; feasibility on real exports; a clean click-through experience; and quality you can verify with 81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go next: a pilot on real data, where the built-in backtest tells us the real accuracy in the first week; live connectors; multilingual AI text understanding; and closed-loop fixes with human approval. Close: 'The best ticket is the one that never had to be raised. Fuse the signal, predict the pain, fix it first, prove it worked.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30"/>
        </a:solidFill>
      </p:bgPr>
    </p:bg>
    <p:spTree>
      <p:nvGrpSpPr>
        <p:cNvPr id="1" name=""/>
        <p:cNvGrpSpPr/>
        <p:nvPr/>
      </p:nvGrpSpPr>
      <p:grpSpPr>
        <a:xfrm>
          <a:off x="0" y="0"/>
          <a:ext cx="0" cy="0"/>
          <a:chOff x="0" y="0"/>
          <a:chExt cx="0" cy="0"/>
        </a:xfrm>
      </p:grpSpPr>
      <p:sp>
        <p:nvSpPr>
          <p:cNvPr id="2" name="Shape 0"/>
          <p:cNvSpPr/>
          <p:nvPr/>
        </p:nvSpPr>
        <p:spPr>
          <a:xfrm>
            <a:off x="4892040" y="960120"/>
            <a:ext cx="2834640" cy="2834640"/>
          </a:xfrm>
          <a:prstGeom prst="ellipse">
            <a:avLst/>
          </a:prstGeom>
          <a:solidFill>
            <a:srgbClr val="F2A33A">
              <a:alpha val="88000"/>
            </a:srgbClr>
          </a:solidFill>
          <a:ln/>
        </p:spPr>
      </p:sp>
      <p:sp>
        <p:nvSpPr>
          <p:cNvPr id="3" name="Shape 1"/>
          <p:cNvSpPr/>
          <p:nvPr/>
        </p:nvSpPr>
        <p:spPr>
          <a:xfrm>
            <a:off x="5989320" y="1554480"/>
            <a:ext cx="2834640" cy="2834640"/>
          </a:xfrm>
          <a:prstGeom prst="ellipse">
            <a:avLst/>
          </a:prstGeom>
          <a:solidFill>
            <a:srgbClr val="14A89E">
              <a:alpha val="72000"/>
            </a:srgbClr>
          </a:solidFill>
          <a:ln/>
        </p:spPr>
      </p:sp>
      <p:sp>
        <p:nvSpPr>
          <p:cNvPr id="4" name="Text 2"/>
          <p:cNvSpPr txBox="1"/>
          <p:nvPr/>
        </p:nvSpPr>
        <p:spPr>
          <a:xfrm>
            <a:off x="5257800" y="1481328"/>
            <a:ext cx="1920240" cy="274320"/>
          </a:xfrm>
          <a:prstGeom prst="rect">
            <a:avLst/>
          </a:prstGeom>
          <a:noFill/>
          <a:ln/>
        </p:spPr>
        <p:txBody>
          <a:bodyPr wrap="square" lIns="0" tIns="0" rIns="0" bIns="0" rtlCol="0" anchor="t"/>
          <a:lstStyle/>
          <a:p>
            <a:pPr indent="0" marL="0">
              <a:buNone/>
            </a:pPr>
            <a:r>
              <a:rPr lang="en-US" sz="1000" b="1" spc="200" kern="0" dirty="0">
                <a:solidFill>
                  <a:srgbClr val="0F2330"/>
                </a:solidFill>
                <a:latin typeface="Arial" pitchFamily="34" charset="0"/>
                <a:ea typeface="Arial" pitchFamily="34" charset="-122"/>
                <a:cs typeface="Arial" pitchFamily="34" charset="-120"/>
              </a:rPr>
              <a:t>WHAT PEOPLE SAY</a:t>
            </a:r>
            <a:endParaRPr lang="en-US" sz="1000" dirty="0"/>
          </a:p>
        </p:txBody>
      </p:sp>
      <p:sp>
        <p:nvSpPr>
          <p:cNvPr id="5" name="Text 3"/>
          <p:cNvSpPr txBox="1"/>
          <p:nvPr/>
        </p:nvSpPr>
        <p:spPr>
          <a:xfrm>
            <a:off x="6492240" y="3657600"/>
            <a:ext cx="1828800" cy="274320"/>
          </a:xfrm>
          <a:prstGeom prst="rect">
            <a:avLst/>
          </a:prstGeom>
          <a:noFill/>
          <a:ln/>
        </p:spPr>
        <p:txBody>
          <a:bodyPr wrap="square" lIns="0" tIns="0" rIns="0" bIns="0" rtlCol="0" anchor="t"/>
          <a:lstStyle/>
          <a:p>
            <a:pPr algn="ctr" indent="0" marL="0">
              <a:buNone/>
            </a:pPr>
            <a:r>
              <a:rPr lang="en-US" sz="1000" b="1" spc="200" kern="0" dirty="0">
                <a:solidFill>
                  <a:srgbClr val="FFFFFF"/>
                </a:solidFill>
                <a:latin typeface="Arial" pitchFamily="34" charset="0"/>
                <a:ea typeface="Arial" pitchFamily="34" charset="-122"/>
                <a:cs typeface="Arial" pitchFamily="34" charset="-120"/>
              </a:rPr>
              <a:t>WHAT DEVICES DO</a:t>
            </a:r>
            <a:endParaRPr lang="en-US" sz="1000" dirty="0"/>
          </a:p>
        </p:txBody>
      </p:sp>
      <p:sp>
        <p:nvSpPr>
          <p:cNvPr id="6" name="Text 4"/>
          <p:cNvSpPr txBox="1"/>
          <p:nvPr/>
        </p:nvSpPr>
        <p:spPr>
          <a:xfrm>
            <a:off x="548640" y="640080"/>
            <a:ext cx="5943600" cy="274320"/>
          </a:xfrm>
          <a:prstGeom prst="rect">
            <a:avLst/>
          </a:prstGeom>
          <a:noFill/>
          <a:ln/>
        </p:spPr>
        <p:txBody>
          <a:bodyPr wrap="square" lIns="0" tIns="0" rIns="0" bIns="0" rtlCol="0" anchor="t"/>
          <a:lstStyle/>
          <a:p>
            <a:pPr indent="0" marL="0">
              <a:buNone/>
            </a:pPr>
            <a:r>
              <a:rPr lang="en-US" sz="1100" b="1" spc="200" kern="0" dirty="0">
                <a:solidFill>
                  <a:srgbClr val="F2A33A"/>
                </a:solidFill>
                <a:latin typeface="Arial" pitchFamily="34" charset="0"/>
                <a:ea typeface="Arial" pitchFamily="34" charset="-122"/>
                <a:cs typeface="Arial" pitchFamily="34" charset="-120"/>
              </a:rPr>
              <a:t>HACKATHON 2026  ·  DIGITAL EMPLOYEE EXPERIENCE</a:t>
            </a:r>
            <a:endParaRPr lang="en-US" sz="1100" dirty="0"/>
          </a:p>
        </p:txBody>
      </p:sp>
      <p:sp>
        <p:nvSpPr>
          <p:cNvPr id="7" name="Text 5"/>
          <p:cNvSpPr txBox="1"/>
          <p:nvPr/>
        </p:nvSpPr>
        <p:spPr>
          <a:xfrm>
            <a:off x="548640" y="1234440"/>
            <a:ext cx="4754880" cy="868680"/>
          </a:xfrm>
          <a:prstGeom prst="rect">
            <a:avLst/>
          </a:prstGeom>
          <a:noFill/>
          <a:ln/>
        </p:spPr>
        <p:txBody>
          <a:bodyPr wrap="square" lIns="0" tIns="0" rIns="0" bIns="0" rtlCol="0" anchor="t"/>
          <a:lstStyle/>
          <a:p>
            <a:pPr indent="0" marL="0">
              <a:buNone/>
            </a:pPr>
            <a:r>
              <a:rPr lang="en-US" sz="5000" b="1" dirty="0">
                <a:solidFill>
                  <a:srgbClr val="FFFFFF"/>
                </a:solidFill>
                <a:latin typeface="Arial" pitchFamily="34" charset="0"/>
                <a:ea typeface="Arial" pitchFamily="34" charset="-122"/>
                <a:cs typeface="Arial" pitchFamily="34" charset="-120"/>
              </a:rPr>
              <a:t>DEX Sentinel</a:t>
            </a:r>
            <a:endParaRPr lang="en-US" sz="5000" dirty="0"/>
          </a:p>
        </p:txBody>
      </p:sp>
      <p:sp>
        <p:nvSpPr>
          <p:cNvPr id="8" name="Text 6"/>
          <p:cNvSpPr txBox="1"/>
          <p:nvPr/>
        </p:nvSpPr>
        <p:spPr>
          <a:xfrm>
            <a:off x="548640" y="2103120"/>
            <a:ext cx="4754880" cy="502920"/>
          </a:xfrm>
          <a:prstGeom prst="rect">
            <a:avLst/>
          </a:prstGeom>
          <a:noFill/>
          <a:ln/>
        </p:spPr>
        <p:txBody>
          <a:bodyPr wrap="square" lIns="0" tIns="0" rIns="0" bIns="0" rtlCol="0" anchor="t"/>
          <a:lstStyle/>
          <a:p>
            <a:pPr indent="0" marL="0">
              <a:buNone/>
            </a:pPr>
            <a:r>
              <a:rPr lang="en-US" sz="2600" i="1" dirty="0">
                <a:solidFill>
                  <a:srgbClr val="14A89E"/>
                </a:solidFill>
                <a:latin typeface="Arial" pitchFamily="34" charset="0"/>
                <a:ea typeface="Arial" pitchFamily="34" charset="-122"/>
                <a:cs typeface="Arial" pitchFamily="34" charset="-120"/>
              </a:rPr>
              <a:t>Fix it before they call.</a:t>
            </a:r>
            <a:endParaRPr lang="en-US" sz="2600" dirty="0"/>
          </a:p>
        </p:txBody>
      </p:sp>
      <p:sp>
        <p:nvSpPr>
          <p:cNvPr id="9" name="Text 7"/>
          <p:cNvSpPr txBox="1"/>
          <p:nvPr/>
        </p:nvSpPr>
        <p:spPr>
          <a:xfrm>
            <a:off x="548640" y="2788920"/>
            <a:ext cx="4297680" cy="868680"/>
          </a:xfrm>
          <a:prstGeom prst="rect">
            <a:avLst/>
          </a:prstGeom>
          <a:noFill/>
          <a:ln/>
        </p:spPr>
        <p:txBody>
          <a:bodyPr wrap="square" lIns="0" tIns="0" rIns="0" bIns="0" rtlCol="0" anchor="t"/>
          <a:lstStyle/>
          <a:p>
            <a:pPr indent="0" marL="0">
              <a:buNone/>
            </a:pPr>
            <a:r>
              <a:rPr lang="en-US" sz="1400" dirty="0">
                <a:solidFill>
                  <a:srgbClr val="C9DCE3"/>
                </a:solidFill>
                <a:latin typeface="Calibri" pitchFamily="34" charset="0"/>
                <a:ea typeface="Calibri" pitchFamily="34" charset="-122"/>
                <a:cs typeface="Calibri" pitchFamily="34" charset="-120"/>
              </a:rPr>
              <a:t>Outcome-based DEX analytics that fuses what employees say with what their devices do, predicts who will struggle next week, and proves every fix worked.</a:t>
            </a:r>
            <a:endParaRPr lang="en-US" sz="1400" dirty="0"/>
          </a:p>
        </p:txBody>
      </p:sp>
      <p:sp>
        <p:nvSpPr>
          <p:cNvPr id="10" name="Text 8"/>
          <p:cNvSpPr txBox="1"/>
          <p:nvPr/>
        </p:nvSpPr>
        <p:spPr>
          <a:xfrm>
            <a:off x="548640" y="4343400"/>
            <a:ext cx="5943600" cy="274320"/>
          </a:xfrm>
          <a:prstGeom prst="rect">
            <a:avLst/>
          </a:prstGeom>
          <a:noFill/>
          <a:ln/>
        </p:spPr>
        <p:txBody>
          <a:bodyPr wrap="square" lIns="0" tIns="0" rIns="0" bIns="0" rtlCol="0" anchor="t"/>
          <a:lstStyle/>
          <a:p>
            <a:pPr indent="0" marL="0">
              <a:buNone/>
            </a:pPr>
            <a:r>
              <a:rPr lang="en-US" sz="1100" dirty="0">
                <a:solidFill>
                  <a:srgbClr val="7B8E99"/>
                </a:solidFill>
                <a:latin typeface="Calibri" pitchFamily="34" charset="0"/>
                <a:ea typeface="Calibri" pitchFamily="34" charset="-122"/>
                <a:cs typeface="Calibri" pitchFamily="34" charset="-120"/>
              </a:rPr>
              <a:t>Live MVP  ·  FastAPI + React  ·  LightGBM  ·  Claude  ·  Presented by Vijay Vishwanath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B86E0E"/>
                </a:solidFill>
                <a:latin typeface="Arial" pitchFamily="34" charset="0"/>
                <a:ea typeface="Arial" pitchFamily="34" charset="-122"/>
                <a:cs typeface="Arial" pitchFamily="34" charset="-120"/>
              </a:rPr>
              <a:t>THE PROBLEM</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13222C"/>
                </a:solidFill>
                <a:latin typeface="Arial" pitchFamily="34" charset="0"/>
                <a:ea typeface="Arial" pitchFamily="34" charset="-122"/>
                <a:cs typeface="Arial" pitchFamily="34" charset="-120"/>
              </a:rPr>
              <a:t>The service desk only learns about pain when the employee calls</a:t>
            </a:r>
            <a:endParaRPr lang="en-US" sz="2600" dirty="0"/>
          </a:p>
        </p:txBody>
      </p:sp>
      <p:sp>
        <p:nvSpPr>
          <p:cNvPr id="6" name="Text 4"/>
          <p:cNvSpPr txBox="1"/>
          <p:nvPr/>
        </p:nvSpPr>
        <p:spPr>
          <a:xfrm>
            <a:off x="457200" y="1600200"/>
            <a:ext cx="3566160" cy="548640"/>
          </a:xfrm>
          <a:prstGeom prst="rect">
            <a:avLst/>
          </a:prstGeom>
          <a:noFill/>
          <a:ln/>
        </p:spPr>
        <p:txBody>
          <a:bodyPr wrap="square" lIns="0" tIns="0" rIns="0" bIns="0" rtlCol="0" anchor="ctr"/>
          <a:lstStyle/>
          <a:p>
            <a:pPr indent="0" marL="0">
              <a:buNone/>
            </a:pPr>
            <a:r>
              <a:rPr lang="en-US" sz="3000" b="1" dirty="0">
                <a:solidFill>
                  <a:srgbClr val="E4574B"/>
                </a:solidFill>
                <a:latin typeface="Arial" pitchFamily="34" charset="0"/>
                <a:ea typeface="Arial" pitchFamily="34" charset="-122"/>
                <a:cs typeface="Arial" pitchFamily="34" charset="-120"/>
              </a:rPr>
              <a:t>46.8%</a:t>
            </a:r>
            <a:endParaRPr lang="en-US" sz="3000" dirty="0"/>
          </a:p>
        </p:txBody>
      </p:sp>
      <p:sp>
        <p:nvSpPr>
          <p:cNvPr id="7" name="Text 5"/>
          <p:cNvSpPr txBox="1"/>
          <p:nvPr/>
        </p:nvSpPr>
        <p:spPr>
          <a:xfrm>
            <a:off x="457200" y="2148840"/>
            <a:ext cx="3291840" cy="365760"/>
          </a:xfrm>
          <a:prstGeom prst="rect">
            <a:avLst/>
          </a:prstGeom>
          <a:noFill/>
          <a:ln/>
        </p:spPr>
        <p:txBody>
          <a:bodyPr wrap="square" lIns="0" tIns="0" rIns="0" bIns="0" rtlCol="0" anchor="t"/>
          <a:lstStyle/>
          <a:p>
            <a:pPr indent="0" marL="0">
              <a:buNone/>
            </a:pPr>
            <a:r>
              <a:rPr lang="en-US" sz="1200" dirty="0">
                <a:solidFill>
                  <a:srgbClr val="3E5260"/>
                </a:solidFill>
                <a:latin typeface="Calibri" pitchFamily="34" charset="0"/>
                <a:ea typeface="Calibri" pitchFamily="34" charset="-122"/>
                <a:cs typeface="Calibri" pitchFamily="34" charset="-120"/>
              </a:rPr>
              <a:t>of contacts were repeats before a verified fix</a:t>
            </a:r>
            <a:endParaRPr lang="en-US" sz="1200" dirty="0"/>
          </a:p>
        </p:txBody>
      </p:sp>
      <p:sp>
        <p:nvSpPr>
          <p:cNvPr id="8" name="Text 6"/>
          <p:cNvSpPr txBox="1"/>
          <p:nvPr/>
        </p:nvSpPr>
        <p:spPr>
          <a:xfrm>
            <a:off x="457200" y="2624328"/>
            <a:ext cx="3566160" cy="548640"/>
          </a:xfrm>
          <a:prstGeom prst="rect">
            <a:avLst/>
          </a:prstGeom>
          <a:noFill/>
          <a:ln/>
        </p:spPr>
        <p:txBody>
          <a:bodyPr wrap="square" lIns="0" tIns="0" rIns="0" bIns="0" rtlCol="0" anchor="ctr"/>
          <a:lstStyle/>
          <a:p>
            <a:pPr indent="0" marL="0">
              <a:buNone/>
            </a:pPr>
            <a:r>
              <a:rPr lang="en-US" sz="3000" b="1" dirty="0">
                <a:solidFill>
                  <a:srgbClr val="B86E0E"/>
                </a:solidFill>
                <a:latin typeface="Arial" pitchFamily="34" charset="0"/>
                <a:ea typeface="Arial" pitchFamily="34" charset="-122"/>
                <a:cs typeface="Arial" pitchFamily="34" charset="-120"/>
              </a:rPr>
              <a:t>1.9×</a:t>
            </a:r>
            <a:endParaRPr lang="en-US" sz="3000" dirty="0"/>
          </a:p>
        </p:txBody>
      </p:sp>
      <p:sp>
        <p:nvSpPr>
          <p:cNvPr id="9" name="Text 7"/>
          <p:cNvSpPr txBox="1"/>
          <p:nvPr/>
        </p:nvSpPr>
        <p:spPr>
          <a:xfrm>
            <a:off x="457200" y="3172968"/>
            <a:ext cx="3291840" cy="365760"/>
          </a:xfrm>
          <a:prstGeom prst="rect">
            <a:avLst/>
          </a:prstGeom>
          <a:noFill/>
          <a:ln/>
        </p:spPr>
        <p:txBody>
          <a:bodyPr wrap="square" lIns="0" tIns="0" rIns="0" bIns="0" rtlCol="0" anchor="t"/>
          <a:lstStyle/>
          <a:p>
            <a:pPr indent="0" marL="0">
              <a:buNone/>
            </a:pPr>
            <a:r>
              <a:rPr lang="en-US" sz="1200" dirty="0">
                <a:solidFill>
                  <a:srgbClr val="3E5260"/>
                </a:solidFill>
                <a:latin typeface="Calibri" pitchFamily="34" charset="0"/>
                <a:ea typeface="Calibri" pitchFamily="34" charset="-122"/>
                <a:cs typeface="Calibri" pitchFamily="34" charset="-120"/>
              </a:rPr>
              <a:t>more frustration on devices booting slower than 85 s</a:t>
            </a:r>
            <a:endParaRPr lang="en-US" sz="1200" dirty="0"/>
          </a:p>
        </p:txBody>
      </p:sp>
      <p:sp>
        <p:nvSpPr>
          <p:cNvPr id="10" name="Text 8"/>
          <p:cNvSpPr txBox="1"/>
          <p:nvPr/>
        </p:nvSpPr>
        <p:spPr>
          <a:xfrm>
            <a:off x="457200" y="3648456"/>
            <a:ext cx="3566160" cy="548640"/>
          </a:xfrm>
          <a:prstGeom prst="rect">
            <a:avLst/>
          </a:prstGeom>
          <a:noFill/>
          <a:ln/>
        </p:spPr>
        <p:txBody>
          <a:bodyPr wrap="square" lIns="0" tIns="0" rIns="0" bIns="0" rtlCol="0" anchor="ctr"/>
          <a:lstStyle/>
          <a:p>
            <a:pPr indent="0" marL="0">
              <a:buNone/>
            </a:pPr>
            <a:r>
              <a:rPr lang="en-US" sz="3000" b="1" dirty="0">
                <a:solidFill>
                  <a:srgbClr val="0B7A73"/>
                </a:solidFill>
                <a:latin typeface="Arial" pitchFamily="34" charset="0"/>
                <a:ea typeface="Arial" pitchFamily="34" charset="-122"/>
                <a:cs typeface="Arial" pitchFamily="34" charset="-120"/>
              </a:rPr>
              <a:t>28.5% vs 0%</a:t>
            </a:r>
            <a:endParaRPr lang="en-US" sz="3000" dirty="0"/>
          </a:p>
        </p:txBody>
      </p:sp>
      <p:sp>
        <p:nvSpPr>
          <p:cNvPr id="11" name="Text 9"/>
          <p:cNvSpPr txBox="1"/>
          <p:nvPr/>
        </p:nvSpPr>
        <p:spPr>
          <a:xfrm>
            <a:off x="457200" y="4197096"/>
            <a:ext cx="3291840" cy="365760"/>
          </a:xfrm>
          <a:prstGeom prst="rect">
            <a:avLst/>
          </a:prstGeom>
          <a:noFill/>
          <a:ln/>
        </p:spPr>
        <p:txBody>
          <a:bodyPr wrap="square" lIns="0" tIns="0" rIns="0" bIns="0" rtlCol="0" anchor="t"/>
          <a:lstStyle/>
          <a:p>
            <a:pPr indent="0" marL="0">
              <a:buNone/>
            </a:pPr>
            <a:r>
              <a:rPr lang="en-US" sz="1200" dirty="0">
                <a:solidFill>
                  <a:srgbClr val="3E5260"/>
                </a:solidFill>
                <a:latin typeface="Calibri" pitchFamily="34" charset="0"/>
                <a:ea typeface="Calibri" pitchFamily="34" charset="-122"/>
                <a:cs typeface="Calibri" pitchFamily="34" charset="-120"/>
              </a:rPr>
              <a:t>login tickets from non-compliant vs compliant device-weeks</a:t>
            </a:r>
            <a:endParaRPr lang="en-US" sz="1200" dirty="0"/>
          </a:p>
        </p:txBody>
      </p:sp>
      <p:sp>
        <p:nvSpPr>
          <p:cNvPr id="12" name="Shape 10"/>
          <p:cNvSpPr/>
          <p:nvPr/>
        </p:nvSpPr>
        <p:spPr>
          <a:xfrm>
            <a:off x="4160520" y="1572768"/>
            <a:ext cx="4526280" cy="3017520"/>
          </a:xfrm>
          <a:prstGeom prst="roundRect">
            <a:avLst>
              <a:gd name="adj" fmla="val 2424"/>
            </a:avLst>
          </a:prstGeom>
          <a:solidFill>
            <a:srgbClr val="EEF5F6"/>
          </a:solidFill>
          <a:ln/>
        </p:spPr>
      </p:sp>
      <p:sp>
        <p:nvSpPr>
          <p:cNvPr id="13" name="Text 11"/>
          <p:cNvSpPr txBox="1"/>
          <p:nvPr/>
        </p:nvSpPr>
        <p:spPr>
          <a:xfrm>
            <a:off x="4434840" y="1737360"/>
            <a:ext cx="4023360" cy="320040"/>
          </a:xfrm>
          <a:prstGeom prst="rect">
            <a:avLst/>
          </a:prstGeom>
          <a:noFill/>
          <a:ln/>
        </p:spPr>
        <p:txBody>
          <a:bodyPr wrap="square" lIns="0" tIns="0" rIns="0" bIns="0" rtlCol="0" anchor="t"/>
          <a:lstStyle/>
          <a:p>
            <a:pPr indent="0" marL="0">
              <a:buNone/>
            </a:pPr>
            <a:r>
              <a:rPr lang="en-US" sz="1600" b="1" dirty="0">
                <a:solidFill>
                  <a:srgbClr val="13222C"/>
                </a:solidFill>
                <a:latin typeface="Arial" pitchFamily="34" charset="0"/>
                <a:ea typeface="Arial" pitchFamily="34" charset="-122"/>
                <a:cs typeface="Arial" pitchFamily="34" charset="-120"/>
              </a:rPr>
              <a:t>Why it happens</a:t>
            </a:r>
            <a:endParaRPr lang="en-US" sz="1600" dirty="0"/>
          </a:p>
        </p:txBody>
      </p:sp>
      <p:sp>
        <p:nvSpPr>
          <p:cNvPr id="14" name="Shape 12"/>
          <p:cNvSpPr/>
          <p:nvPr/>
        </p:nvSpPr>
        <p:spPr>
          <a:xfrm>
            <a:off x="4434840" y="2194560"/>
            <a:ext cx="457200" cy="457200"/>
          </a:xfrm>
          <a:prstGeom prst="ellipse">
            <a:avLst/>
          </a:prstGeom>
          <a:solidFill>
            <a:srgbClr val="FFFFFF"/>
          </a:solidFill>
          <a:ln w="12700">
            <a:solidFill>
              <a:srgbClr val="D5E3E6"/>
            </a:solidFill>
            <a:prstDash val="solid"/>
          </a:ln>
        </p:spPr>
      </p:sp>
      <p:pic>
        <p:nvPicPr>
          <p:cNvPr id="15" name="Image 0" descr="preencoded.png">    </p:cNvPr>
          <p:cNvPicPr>
            <a:picLocks noChangeAspect="1"/>
          </p:cNvPicPr>
          <p:nvPr/>
        </p:nvPicPr>
        <p:blipFill>
          <a:blip r:embed="rId1"/>
          <a:stretch>
            <a:fillRect/>
          </a:stretch>
        </p:blipFill>
        <p:spPr>
          <a:xfrm>
            <a:off x="4544568" y="2304288"/>
            <a:ext cx="237744" cy="237744"/>
          </a:xfrm>
          <a:prstGeom prst="rect">
            <a:avLst/>
          </a:prstGeom>
        </p:spPr>
      </p:pic>
      <p:sp>
        <p:nvSpPr>
          <p:cNvPr id="16" name="Text 13"/>
          <p:cNvSpPr txBox="1"/>
          <p:nvPr/>
        </p:nvSpPr>
        <p:spPr>
          <a:xfrm>
            <a:off x="5074920" y="2176272"/>
            <a:ext cx="3474720" cy="256032"/>
          </a:xfrm>
          <a:prstGeom prst="rect">
            <a:avLst/>
          </a:prstGeom>
          <a:noFill/>
          <a:ln/>
        </p:spPr>
        <p:txBody>
          <a:bodyPr wrap="square" lIns="0" tIns="0" rIns="0" bIns="0" rtlCol="0" anchor="t"/>
          <a:lstStyle/>
          <a:p>
            <a:pPr indent="0" marL="0">
              <a:buNone/>
            </a:pPr>
            <a:r>
              <a:rPr lang="en-US" sz="1300" b="1" dirty="0">
                <a:solidFill>
                  <a:srgbClr val="13222C"/>
                </a:solidFill>
                <a:latin typeface="Calibri" pitchFamily="34" charset="0"/>
                <a:ea typeface="Calibri" pitchFamily="34" charset="-122"/>
                <a:cs typeface="Calibri" pitchFamily="34" charset="-120"/>
              </a:rPr>
              <a:t>Two signals never meet</a:t>
            </a:r>
            <a:endParaRPr lang="en-US" sz="1300" dirty="0"/>
          </a:p>
        </p:txBody>
      </p:sp>
      <p:sp>
        <p:nvSpPr>
          <p:cNvPr id="17" name="Text 14"/>
          <p:cNvSpPr txBox="1"/>
          <p:nvPr/>
        </p:nvSpPr>
        <p:spPr>
          <a:xfrm>
            <a:off x="5074920" y="2432304"/>
            <a:ext cx="3474720" cy="41148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Tickets live in the ITSM tool, telemetry in the DEX tool. Nobody joins them.</a:t>
            </a:r>
            <a:endParaRPr lang="en-US" sz="1100" dirty="0"/>
          </a:p>
        </p:txBody>
      </p:sp>
      <p:sp>
        <p:nvSpPr>
          <p:cNvPr id="18" name="Shape 15"/>
          <p:cNvSpPr/>
          <p:nvPr/>
        </p:nvSpPr>
        <p:spPr>
          <a:xfrm>
            <a:off x="4434840" y="2971800"/>
            <a:ext cx="457200" cy="457200"/>
          </a:xfrm>
          <a:prstGeom prst="ellipse">
            <a:avLst/>
          </a:prstGeom>
          <a:solidFill>
            <a:srgbClr val="FFFFFF"/>
          </a:solidFill>
          <a:ln w="12700">
            <a:solidFill>
              <a:srgbClr val="D5E3E6"/>
            </a:solidFill>
            <a:prstDash val="solid"/>
          </a:ln>
        </p:spPr>
      </p:sp>
      <p:pic>
        <p:nvPicPr>
          <p:cNvPr id="19" name="Image 1" descr="preencoded.png">    </p:cNvPr>
          <p:cNvPicPr>
            <a:picLocks noChangeAspect="1"/>
          </p:cNvPicPr>
          <p:nvPr/>
        </p:nvPicPr>
        <p:blipFill>
          <a:blip r:embed="rId2"/>
          <a:stretch>
            <a:fillRect/>
          </a:stretch>
        </p:blipFill>
        <p:spPr>
          <a:xfrm>
            <a:off x="4544568" y="3081528"/>
            <a:ext cx="237744" cy="237744"/>
          </a:xfrm>
          <a:prstGeom prst="rect">
            <a:avLst/>
          </a:prstGeom>
        </p:spPr>
      </p:pic>
      <p:sp>
        <p:nvSpPr>
          <p:cNvPr id="20" name="Text 16"/>
          <p:cNvSpPr txBox="1"/>
          <p:nvPr/>
        </p:nvSpPr>
        <p:spPr>
          <a:xfrm>
            <a:off x="5074920" y="2953512"/>
            <a:ext cx="3474720" cy="256032"/>
          </a:xfrm>
          <a:prstGeom prst="rect">
            <a:avLst/>
          </a:prstGeom>
          <a:noFill/>
          <a:ln/>
        </p:spPr>
        <p:txBody>
          <a:bodyPr wrap="square" lIns="0" tIns="0" rIns="0" bIns="0" rtlCol="0" anchor="t"/>
          <a:lstStyle/>
          <a:p>
            <a:pPr indent="0" marL="0">
              <a:buNone/>
            </a:pPr>
            <a:r>
              <a:rPr lang="en-US" sz="1300" b="1" dirty="0">
                <a:solidFill>
                  <a:srgbClr val="13222C"/>
                </a:solidFill>
                <a:latin typeface="Calibri" pitchFamily="34" charset="0"/>
                <a:ea typeface="Calibri" pitchFamily="34" charset="-122"/>
                <a:cs typeface="Calibri" pitchFamily="34" charset="-120"/>
              </a:rPr>
              <a:t>Closed is not fixed</a:t>
            </a:r>
            <a:endParaRPr lang="en-US" sz="1300" dirty="0"/>
          </a:p>
        </p:txBody>
      </p:sp>
      <p:sp>
        <p:nvSpPr>
          <p:cNvPr id="21" name="Text 17"/>
          <p:cNvSpPr txBox="1"/>
          <p:nvPr/>
        </p:nvSpPr>
        <p:spPr>
          <a:xfrm>
            <a:off x="5074920" y="3209544"/>
            <a:ext cx="3474720" cy="41148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Tickets close when calls stop, not when the laptop works again.</a:t>
            </a:r>
            <a:endParaRPr lang="en-US" sz="1100" dirty="0"/>
          </a:p>
        </p:txBody>
      </p:sp>
      <p:sp>
        <p:nvSpPr>
          <p:cNvPr id="22" name="Shape 18"/>
          <p:cNvSpPr/>
          <p:nvPr/>
        </p:nvSpPr>
        <p:spPr>
          <a:xfrm>
            <a:off x="4434840" y="3749040"/>
            <a:ext cx="457200" cy="457200"/>
          </a:xfrm>
          <a:prstGeom prst="ellipse">
            <a:avLst/>
          </a:prstGeom>
          <a:solidFill>
            <a:srgbClr val="FFFFFF"/>
          </a:solidFill>
          <a:ln w="12700">
            <a:solidFill>
              <a:srgbClr val="D5E3E6"/>
            </a:solidFill>
            <a:prstDash val="solid"/>
          </a:ln>
        </p:spPr>
      </p:sp>
      <p:pic>
        <p:nvPicPr>
          <p:cNvPr id="23" name="Image 2" descr="preencoded.png">    </p:cNvPr>
          <p:cNvPicPr>
            <a:picLocks noChangeAspect="1"/>
          </p:cNvPicPr>
          <p:nvPr/>
        </p:nvPicPr>
        <p:blipFill>
          <a:blip r:embed="rId3"/>
          <a:stretch>
            <a:fillRect/>
          </a:stretch>
        </p:blipFill>
        <p:spPr>
          <a:xfrm>
            <a:off x="4544568" y="3858768"/>
            <a:ext cx="237744" cy="237744"/>
          </a:xfrm>
          <a:prstGeom prst="rect">
            <a:avLst/>
          </a:prstGeom>
        </p:spPr>
      </p:pic>
      <p:sp>
        <p:nvSpPr>
          <p:cNvPr id="24" name="Text 19"/>
          <p:cNvSpPr txBox="1"/>
          <p:nvPr/>
        </p:nvSpPr>
        <p:spPr>
          <a:xfrm>
            <a:off x="5074920" y="3730752"/>
            <a:ext cx="3474720" cy="256032"/>
          </a:xfrm>
          <a:prstGeom prst="rect">
            <a:avLst/>
          </a:prstGeom>
          <a:noFill/>
          <a:ln/>
        </p:spPr>
        <p:txBody>
          <a:bodyPr wrap="square" lIns="0" tIns="0" rIns="0" bIns="0" rtlCol="0" anchor="t"/>
          <a:lstStyle/>
          <a:p>
            <a:pPr indent="0" marL="0">
              <a:buNone/>
            </a:pPr>
            <a:r>
              <a:rPr lang="en-US" sz="1300" b="1" dirty="0">
                <a:solidFill>
                  <a:srgbClr val="13222C"/>
                </a:solidFill>
                <a:latin typeface="Calibri" pitchFamily="34" charset="0"/>
                <a:ea typeface="Calibri" pitchFamily="34" charset="-122"/>
                <a:cs typeface="Calibri" pitchFamily="34" charset="-120"/>
              </a:rPr>
              <a:t>Always reactive</a:t>
            </a:r>
            <a:endParaRPr lang="en-US" sz="1300" dirty="0"/>
          </a:p>
        </p:txBody>
      </p:sp>
      <p:sp>
        <p:nvSpPr>
          <p:cNvPr id="25" name="Text 20"/>
          <p:cNvSpPr txBox="1"/>
          <p:nvPr/>
        </p:nvSpPr>
        <p:spPr>
          <a:xfrm>
            <a:off x="5074920" y="3986784"/>
            <a:ext cx="3474720" cy="41148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By the first call, the employee has already lost hours.</a:t>
            </a:r>
            <a:endParaRPr lang="en-US" sz="1100" dirty="0"/>
          </a:p>
        </p:txBody>
      </p:sp>
      <p:sp>
        <p:nvSpPr>
          <p:cNvPr id="26" name="Text 21"/>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2 / 15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330"/>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F2A33A"/>
                </a:solidFill>
                <a:latin typeface="Arial" pitchFamily="34" charset="0"/>
                <a:ea typeface="Arial" pitchFamily="34" charset="-122"/>
                <a:cs typeface="Arial" pitchFamily="34" charset="-120"/>
              </a:rPr>
              <a:t>THE INSIGHT</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Join the two sources of truth and frustration becomes explainable</a:t>
            </a:r>
            <a:endParaRPr lang="en-US" sz="2600" dirty="0"/>
          </a:p>
        </p:txBody>
      </p:sp>
      <p:sp>
        <p:nvSpPr>
          <p:cNvPr id="6" name="Shape 4"/>
          <p:cNvSpPr/>
          <p:nvPr/>
        </p:nvSpPr>
        <p:spPr>
          <a:xfrm>
            <a:off x="1097280" y="1554480"/>
            <a:ext cx="3200400" cy="3200400"/>
          </a:xfrm>
          <a:prstGeom prst="ellipse">
            <a:avLst/>
          </a:prstGeom>
          <a:solidFill>
            <a:srgbClr val="F2A33A">
              <a:alpha val="85000"/>
            </a:srgbClr>
          </a:solidFill>
          <a:ln/>
        </p:spPr>
      </p:sp>
      <p:sp>
        <p:nvSpPr>
          <p:cNvPr id="7" name="Shape 5"/>
          <p:cNvSpPr/>
          <p:nvPr/>
        </p:nvSpPr>
        <p:spPr>
          <a:xfrm>
            <a:off x="3108960" y="1554480"/>
            <a:ext cx="3200400" cy="3200400"/>
          </a:xfrm>
          <a:prstGeom prst="ellipse">
            <a:avLst/>
          </a:prstGeom>
          <a:solidFill>
            <a:srgbClr val="14A89E">
              <a:alpha val="70000"/>
            </a:srgbClr>
          </a:solidFill>
          <a:ln/>
        </p:spPr>
      </p:sp>
      <p:sp>
        <p:nvSpPr>
          <p:cNvPr id="8" name="Text 6"/>
          <p:cNvSpPr txBox="1"/>
          <p:nvPr/>
        </p:nvSpPr>
        <p:spPr>
          <a:xfrm>
            <a:off x="1417320" y="2148840"/>
            <a:ext cx="1920240" cy="274320"/>
          </a:xfrm>
          <a:prstGeom prst="rect">
            <a:avLst/>
          </a:prstGeom>
          <a:noFill/>
          <a:ln/>
        </p:spPr>
        <p:txBody>
          <a:bodyPr wrap="square" lIns="0" tIns="0" rIns="0" bIns="0" rtlCol="0" anchor="t"/>
          <a:lstStyle/>
          <a:p>
            <a:pPr indent="0" marL="0">
              <a:buNone/>
            </a:pPr>
            <a:r>
              <a:rPr lang="en-US" sz="1000" b="1" spc="50" kern="0" dirty="0">
                <a:solidFill>
                  <a:srgbClr val="0F2330"/>
                </a:solidFill>
                <a:latin typeface="Arial" pitchFamily="34" charset="0"/>
                <a:ea typeface="Arial" pitchFamily="34" charset="-122"/>
                <a:cs typeface="Arial" pitchFamily="34" charset="-120"/>
              </a:rPr>
              <a:t>WHAT EMPLOYEES SAY</a:t>
            </a:r>
            <a:endParaRPr lang="en-US" sz="1000" dirty="0"/>
          </a:p>
        </p:txBody>
      </p:sp>
      <p:sp>
        <p:nvSpPr>
          <p:cNvPr id="9" name="Text 7"/>
          <p:cNvSpPr txBox="1"/>
          <p:nvPr/>
        </p:nvSpPr>
        <p:spPr>
          <a:xfrm>
            <a:off x="1417320" y="2468880"/>
            <a:ext cx="1783080" cy="1188720"/>
          </a:xfrm>
          <a:prstGeom prst="rect">
            <a:avLst/>
          </a:prstGeom>
          <a:noFill/>
          <a:ln/>
        </p:spPr>
        <p:txBody>
          <a:bodyPr wrap="square" lIns="0" tIns="0" rIns="0" bIns="0" rtlCol="0" anchor="t"/>
          <a:lstStyle/>
          <a:p>
            <a:pPr indent="0" marL="0">
              <a:spcAft>
                <a:spcPts val="300"/>
              </a:spcAft>
              <a:buNone/>
            </a:pPr>
            <a:r>
              <a:rPr lang="en-US" sz="1200" dirty="0">
                <a:solidFill>
                  <a:srgbClr val="0F2330"/>
                </a:solidFill>
                <a:latin typeface="Calibri" pitchFamily="34" charset="0"/>
                <a:ea typeface="Calibri" pitchFamily="34" charset="-122"/>
                <a:cs typeface="Calibri" pitchFamily="34" charset="-120"/>
              </a:rPr>
              <a:t>Tickets · calls · chats</a:t>
            </a:r>
            <a:endParaRPr lang="en-US" sz="1200" dirty="0"/>
          </a:p>
          <a:p>
            <a:pPr indent="0" marL="0">
              <a:spcAft>
                <a:spcPts val="300"/>
              </a:spcAft>
              <a:buNone/>
            </a:pPr>
            <a:r>
              <a:rPr lang="en-US" sz="1200" dirty="0">
                <a:solidFill>
                  <a:srgbClr val="0F2330"/>
                </a:solidFill>
                <a:latin typeface="Calibri" pitchFamily="34" charset="0"/>
                <a:ea typeface="Calibri" pitchFamily="34" charset="-122"/>
                <a:cs typeface="Calibri" pitchFamily="34" charset="-120"/>
              </a:rPr>
              <a:t>Repeat contacts</a:t>
            </a:r>
            <a:endParaRPr lang="en-US" sz="1200" dirty="0"/>
          </a:p>
          <a:p>
            <a:pPr indent="0" marL="0">
              <a:spcAft>
                <a:spcPts val="300"/>
              </a:spcAft>
              <a:buNone/>
            </a:pPr>
            <a:r>
              <a:rPr lang="en-US" sz="1200" dirty="0">
                <a:solidFill>
                  <a:srgbClr val="0F2330"/>
                </a:solidFill>
                <a:latin typeface="Calibri" pitchFamily="34" charset="0"/>
                <a:ea typeface="Calibri" pitchFamily="34" charset="-122"/>
                <a:cs typeface="Calibri" pitchFamily="34" charset="-120"/>
              </a:rPr>
              <a:t>Escalations</a:t>
            </a:r>
            <a:endParaRPr lang="en-US" sz="1200" dirty="0"/>
          </a:p>
          <a:p>
            <a:pPr indent="0" marL="0">
              <a:spcAft>
                <a:spcPts val="300"/>
              </a:spcAft>
              <a:buNone/>
            </a:pPr>
            <a:r>
              <a:rPr lang="en-US" sz="1200" b="1" dirty="0">
                <a:solidFill>
                  <a:srgbClr val="0F2330"/>
                </a:solidFill>
                <a:latin typeface="Calibri" pitchFamily="34" charset="0"/>
                <a:ea typeface="Calibri" pitchFamily="34" charset="-122"/>
                <a:cs typeface="Calibri" pitchFamily="34" charset="-120"/>
              </a:rPr>
              <a:t>→ Frustration Score</a:t>
            </a:r>
            <a:endParaRPr lang="en-US" sz="1200" dirty="0"/>
          </a:p>
        </p:txBody>
      </p:sp>
      <p:sp>
        <p:nvSpPr>
          <p:cNvPr id="10" name="Text 8"/>
          <p:cNvSpPr txBox="1"/>
          <p:nvPr/>
        </p:nvSpPr>
        <p:spPr>
          <a:xfrm>
            <a:off x="4224528" y="2148840"/>
            <a:ext cx="1737360" cy="274320"/>
          </a:xfrm>
          <a:prstGeom prst="rect">
            <a:avLst/>
          </a:prstGeom>
          <a:noFill/>
          <a:ln/>
        </p:spPr>
        <p:txBody>
          <a:bodyPr wrap="square" lIns="0" tIns="0" rIns="0" bIns="0" rtlCol="0" anchor="t"/>
          <a:lstStyle/>
          <a:p>
            <a:pPr algn="r" indent="0" marL="0">
              <a:buNone/>
            </a:pPr>
            <a:r>
              <a:rPr lang="en-US" sz="1000" b="1" spc="50" kern="0" dirty="0">
                <a:solidFill>
                  <a:srgbClr val="FFFFFF"/>
                </a:solidFill>
                <a:latin typeface="Arial" pitchFamily="34" charset="0"/>
                <a:ea typeface="Arial" pitchFamily="34" charset="-122"/>
                <a:cs typeface="Arial" pitchFamily="34" charset="-120"/>
              </a:rPr>
              <a:t>WHAT DEVICES DO</a:t>
            </a:r>
            <a:endParaRPr lang="en-US" sz="1000" dirty="0"/>
          </a:p>
        </p:txBody>
      </p:sp>
      <p:sp>
        <p:nvSpPr>
          <p:cNvPr id="11" name="Text 9"/>
          <p:cNvSpPr txBox="1"/>
          <p:nvPr/>
        </p:nvSpPr>
        <p:spPr>
          <a:xfrm>
            <a:off x="4343400" y="2468880"/>
            <a:ext cx="1737360" cy="1188720"/>
          </a:xfrm>
          <a:prstGeom prst="rect">
            <a:avLst/>
          </a:prstGeom>
          <a:noFill/>
          <a:ln/>
        </p:spPr>
        <p:txBody>
          <a:bodyPr wrap="square" lIns="0" tIns="0" rIns="0" bIns="0" rtlCol="0" anchor="t"/>
          <a:lstStyle/>
          <a:p>
            <a:pPr algn="r" indent="0" marL="0">
              <a:spcAft>
                <a:spcPts val="300"/>
              </a:spcAft>
              <a:buNone/>
            </a:pPr>
            <a:r>
              <a:rPr lang="en-US" sz="1200" dirty="0">
                <a:solidFill>
                  <a:srgbClr val="FFFFFF"/>
                </a:solidFill>
                <a:latin typeface="Calibri" pitchFamily="34" charset="0"/>
                <a:ea typeface="Calibri" pitchFamily="34" charset="-122"/>
                <a:cs typeface="Calibri" pitchFamily="34" charset="-120"/>
              </a:rPr>
              <a:t>Boot · app hangs</a:t>
            </a:r>
            <a:endParaRPr lang="en-US" sz="1200" dirty="0"/>
          </a:p>
          <a:p>
            <a:pPr algn="r" indent="0" marL="0">
              <a:spcAft>
                <a:spcPts val="300"/>
              </a:spcAft>
              <a:buNone/>
            </a:pPr>
            <a:r>
              <a:rPr lang="en-US" sz="1200" dirty="0">
                <a:solidFill>
                  <a:srgbClr val="FFFFFF"/>
                </a:solidFill>
                <a:latin typeface="Calibri" pitchFamily="34" charset="0"/>
                <a:ea typeface="Calibri" pitchFamily="34" charset="-122"/>
                <a:cs typeface="Calibri" pitchFamily="34" charset="-120"/>
              </a:rPr>
              <a:t>Latency · packet loss</a:t>
            </a:r>
            <a:endParaRPr lang="en-US" sz="1200" dirty="0"/>
          </a:p>
          <a:p>
            <a:pPr algn="r" indent="0" marL="0">
              <a:spcAft>
                <a:spcPts val="300"/>
              </a:spcAft>
              <a:buNone/>
            </a:pPr>
            <a:r>
              <a:rPr lang="en-US" sz="1200" dirty="0">
                <a:solidFill>
                  <a:srgbClr val="FFFFFF"/>
                </a:solidFill>
                <a:latin typeface="Calibri" pitchFamily="34" charset="0"/>
                <a:ea typeface="Calibri" pitchFamily="34" charset="-122"/>
                <a:cs typeface="Calibri" pitchFamily="34" charset="-120"/>
              </a:rPr>
              <a:t>Policy · hardware</a:t>
            </a:r>
            <a:endParaRPr lang="en-US" sz="1200" dirty="0"/>
          </a:p>
          <a:p>
            <a:pPr algn="r" indent="0" marL="0">
              <a:spcAft>
                <a:spcPts val="300"/>
              </a:spcAft>
              <a:buNone/>
            </a:pPr>
            <a:r>
              <a:rPr lang="en-US" sz="1200" b="1" dirty="0">
                <a:solidFill>
                  <a:srgbClr val="FFFFFF"/>
                </a:solidFill>
                <a:latin typeface="Calibri" pitchFamily="34" charset="0"/>
                <a:ea typeface="Calibri" pitchFamily="34" charset="-122"/>
                <a:cs typeface="Calibri" pitchFamily="34" charset="-120"/>
              </a:rPr>
              <a:t>Device Health →</a:t>
            </a:r>
            <a:endParaRPr lang="en-US" sz="1200" dirty="0"/>
          </a:p>
        </p:txBody>
      </p:sp>
      <p:sp>
        <p:nvSpPr>
          <p:cNvPr id="12" name="Text 10"/>
          <p:cNvSpPr txBox="1"/>
          <p:nvPr/>
        </p:nvSpPr>
        <p:spPr>
          <a:xfrm>
            <a:off x="3063240" y="2788920"/>
            <a:ext cx="1325880" cy="45720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r = 0.83</a:t>
            </a:r>
            <a:endParaRPr lang="en-US" sz="2400" dirty="0"/>
          </a:p>
        </p:txBody>
      </p:sp>
      <p:sp>
        <p:nvSpPr>
          <p:cNvPr id="13" name="Text 11"/>
          <p:cNvSpPr txBox="1"/>
          <p:nvPr/>
        </p:nvSpPr>
        <p:spPr>
          <a:xfrm>
            <a:off x="3063240" y="3246120"/>
            <a:ext cx="132588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joined at the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ticket's week</a:t>
            </a:r>
            <a:endParaRPr lang="en-US" sz="1000" dirty="0"/>
          </a:p>
        </p:txBody>
      </p:sp>
      <p:sp>
        <p:nvSpPr>
          <p:cNvPr id="14" name="Text 12"/>
          <p:cNvSpPr txBox="1"/>
          <p:nvPr/>
        </p:nvSpPr>
        <p:spPr>
          <a:xfrm>
            <a:off x="6583680" y="1828800"/>
            <a:ext cx="2148840" cy="1188720"/>
          </a:xfrm>
          <a:prstGeom prst="rect">
            <a:avLst/>
          </a:prstGeom>
          <a:noFill/>
          <a:ln/>
        </p:spPr>
        <p:txBody>
          <a:bodyPr wrap="square" lIns="0" tIns="0" rIns="0" bIns="0" rtlCol="0" anchor="t"/>
          <a:lstStyle/>
          <a:p>
            <a:pPr indent="0" marL="0">
              <a:buNone/>
            </a:pPr>
            <a:r>
              <a:rPr lang="en-US" sz="1300" dirty="0">
                <a:solidFill>
                  <a:srgbClr val="C9DCE3"/>
                </a:solidFill>
                <a:latin typeface="Calibri" pitchFamily="34" charset="0"/>
                <a:ea typeface="Calibri" pitchFamily="34" charset="-122"/>
                <a:cs typeface="Calibri" pitchFamily="34" charset="-120"/>
              </a:rPr>
              <a:t>Correlation between ticket frustration and device telemetry severity across 326 tickets (Spearman 0.84, p &lt; 0.001).</a:t>
            </a:r>
            <a:endParaRPr lang="en-US" sz="1300" dirty="0"/>
          </a:p>
        </p:txBody>
      </p:sp>
      <p:sp>
        <p:nvSpPr>
          <p:cNvPr id="15" name="Text 13"/>
          <p:cNvSpPr txBox="1"/>
          <p:nvPr/>
        </p:nvSpPr>
        <p:spPr>
          <a:xfrm>
            <a:off x="6583680" y="3063240"/>
            <a:ext cx="2148840" cy="1097280"/>
          </a:xfrm>
          <a:prstGeom prst="rect">
            <a:avLst/>
          </a:prstGeom>
          <a:noFill/>
          <a:ln/>
        </p:spPr>
        <p:txBody>
          <a:bodyPr wrap="square" lIns="0" tIns="0" rIns="0" bIns="0" rtlCol="0" anchor="t"/>
          <a:lstStyle/>
          <a:p>
            <a:pPr indent="0" marL="0">
              <a:buNone/>
            </a:pPr>
            <a:r>
              <a:rPr lang="en-US" sz="1300" i="1" dirty="0">
                <a:solidFill>
                  <a:srgbClr val="14A89E"/>
                </a:solidFill>
                <a:latin typeface="Calibri" pitchFamily="34" charset="0"/>
                <a:ea typeface="Calibri" pitchFamily="34" charset="-122"/>
                <a:cs typeface="Calibri" pitchFamily="34" charset="-120"/>
              </a:rPr>
              <a:t>What employees say is a reliable signal of what their devices are doing, and the reverse.</a:t>
            </a:r>
            <a:endParaRPr lang="en-US" sz="1300" dirty="0"/>
          </a:p>
        </p:txBody>
      </p:sp>
      <p:sp>
        <p:nvSpPr>
          <p:cNvPr id="16" name="Text 14"/>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3 / 15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B86E0E"/>
                </a:solidFill>
                <a:latin typeface="Arial" pitchFamily="34" charset="0"/>
                <a:ea typeface="Arial" pitchFamily="34" charset="-122"/>
                <a:cs typeface="Arial" pitchFamily="34" charset="-120"/>
              </a:rPr>
              <a:t>OUR SOLUTION</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13222C"/>
                </a:solidFill>
                <a:latin typeface="Arial" pitchFamily="34" charset="0"/>
                <a:ea typeface="Arial" pitchFamily="34" charset="-122"/>
                <a:cs typeface="Arial" pitchFamily="34" charset="-120"/>
              </a:rPr>
              <a:t>Four moves in one continuous loop</a:t>
            </a:r>
            <a:endParaRPr lang="en-US" sz="2600" dirty="0"/>
          </a:p>
        </p:txBody>
      </p:sp>
      <p:sp>
        <p:nvSpPr>
          <p:cNvPr id="6" name="Shape 4"/>
          <p:cNvSpPr/>
          <p:nvPr/>
        </p:nvSpPr>
        <p:spPr>
          <a:xfrm>
            <a:off x="457200" y="1600200"/>
            <a:ext cx="1920240" cy="2148840"/>
          </a:xfrm>
          <a:prstGeom prst="roundRect">
            <a:avLst>
              <a:gd name="adj" fmla="val 3810"/>
            </a:avLst>
          </a:prstGeom>
          <a:solidFill>
            <a:srgbClr val="EEF5F6"/>
          </a:solidFill>
          <a:ln/>
        </p:spPr>
      </p:sp>
      <p:sp>
        <p:nvSpPr>
          <p:cNvPr id="7" name="Shape 5"/>
          <p:cNvSpPr/>
          <p:nvPr/>
        </p:nvSpPr>
        <p:spPr>
          <a:xfrm>
            <a:off x="640080" y="1783080"/>
            <a:ext cx="566928" cy="566928"/>
          </a:xfrm>
          <a:prstGeom prst="ellipse">
            <a:avLst/>
          </a:prstGeom>
          <a:solidFill>
            <a:srgbClr val="B86E0E"/>
          </a:solidFill>
          <a:ln/>
        </p:spPr>
      </p:sp>
      <p:pic>
        <p:nvPicPr>
          <p:cNvPr id="8" name="Image 0" descr="preencoded.png">    </p:cNvPr>
          <p:cNvPicPr>
            <a:picLocks noChangeAspect="1"/>
          </p:cNvPicPr>
          <p:nvPr/>
        </p:nvPicPr>
        <p:blipFill>
          <a:blip r:embed="rId1"/>
          <a:stretch>
            <a:fillRect/>
          </a:stretch>
        </p:blipFill>
        <p:spPr>
          <a:xfrm>
            <a:off x="776143" y="1919143"/>
            <a:ext cx="294803" cy="294803"/>
          </a:xfrm>
          <a:prstGeom prst="rect">
            <a:avLst/>
          </a:prstGeom>
        </p:spPr>
      </p:pic>
      <p:sp>
        <p:nvSpPr>
          <p:cNvPr id="9" name="Text 6"/>
          <p:cNvSpPr txBox="1"/>
          <p:nvPr/>
        </p:nvSpPr>
        <p:spPr>
          <a:xfrm>
            <a:off x="1828800" y="1810512"/>
            <a:ext cx="365760" cy="365760"/>
          </a:xfrm>
          <a:prstGeom prst="rect">
            <a:avLst/>
          </a:prstGeom>
          <a:noFill/>
          <a:ln/>
        </p:spPr>
        <p:txBody>
          <a:bodyPr wrap="square" lIns="0" tIns="0" rIns="0" bIns="0" rtlCol="0" anchor="t"/>
          <a:lstStyle/>
          <a:p>
            <a:pPr algn="r" indent="0" marL="0">
              <a:buNone/>
            </a:pPr>
            <a:r>
              <a:rPr lang="en-US" sz="2000" b="1" dirty="0">
                <a:solidFill>
                  <a:srgbClr val="D5E3E6"/>
                </a:solidFill>
                <a:latin typeface="Arial" pitchFamily="34" charset="0"/>
                <a:ea typeface="Arial" pitchFamily="34" charset="-122"/>
                <a:cs typeface="Arial" pitchFamily="34" charset="-120"/>
              </a:rPr>
              <a:t>1</a:t>
            </a:r>
            <a:endParaRPr lang="en-US" sz="2000" dirty="0"/>
          </a:p>
        </p:txBody>
      </p:sp>
      <p:sp>
        <p:nvSpPr>
          <p:cNvPr id="10" name="Text 7"/>
          <p:cNvSpPr txBox="1"/>
          <p:nvPr/>
        </p:nvSpPr>
        <p:spPr>
          <a:xfrm>
            <a:off x="640080" y="2487168"/>
            <a:ext cx="1645920" cy="320040"/>
          </a:xfrm>
          <a:prstGeom prst="rect">
            <a:avLst/>
          </a:prstGeom>
          <a:noFill/>
          <a:ln/>
        </p:spPr>
        <p:txBody>
          <a:bodyPr wrap="square" lIns="0" tIns="0" rIns="0" bIns="0" rtlCol="0" anchor="t"/>
          <a:lstStyle/>
          <a:p>
            <a:pPr indent="0" marL="0">
              <a:buNone/>
            </a:pPr>
            <a:r>
              <a:rPr lang="en-US" sz="1700" b="1" dirty="0">
                <a:solidFill>
                  <a:srgbClr val="13222C"/>
                </a:solidFill>
                <a:latin typeface="Arial" pitchFamily="34" charset="0"/>
                <a:ea typeface="Arial" pitchFamily="34" charset="-122"/>
                <a:cs typeface="Arial" pitchFamily="34" charset="-120"/>
              </a:rPr>
              <a:t>Fuse</a:t>
            </a:r>
            <a:endParaRPr lang="en-US" sz="1700" dirty="0"/>
          </a:p>
        </p:txBody>
      </p:sp>
      <p:sp>
        <p:nvSpPr>
          <p:cNvPr id="11" name="Text 8"/>
          <p:cNvSpPr txBox="1"/>
          <p:nvPr/>
        </p:nvSpPr>
        <p:spPr>
          <a:xfrm>
            <a:off x="640080" y="2834640"/>
            <a:ext cx="1600200" cy="822960"/>
          </a:xfrm>
          <a:prstGeom prst="rect">
            <a:avLst/>
          </a:prstGeom>
          <a:noFill/>
          <a:ln/>
        </p:spPr>
        <p:txBody>
          <a:bodyPr wrap="square" lIns="0" tIns="0" rIns="0" bIns="0" rtlCol="0" anchor="t"/>
          <a:lstStyle/>
          <a:p>
            <a:pPr indent="0" marL="0">
              <a:buNone/>
            </a:pPr>
            <a:r>
              <a:rPr lang="en-US" sz="1150" dirty="0">
                <a:solidFill>
                  <a:srgbClr val="3E5260"/>
                </a:solidFill>
                <a:latin typeface="Calibri" pitchFamily="34" charset="0"/>
                <a:ea typeface="Calibri" pitchFamily="34" charset="-122"/>
                <a:cs typeface="Calibri" pitchFamily="34" charset="-120"/>
              </a:rPr>
              <a:t>Score every ticket for frustration and join it to the device's telemetry.</a:t>
            </a:r>
            <a:endParaRPr lang="en-US" sz="1150" dirty="0"/>
          </a:p>
        </p:txBody>
      </p:sp>
      <p:sp>
        <p:nvSpPr>
          <p:cNvPr id="12" name="Shape 9"/>
          <p:cNvSpPr/>
          <p:nvPr/>
        </p:nvSpPr>
        <p:spPr>
          <a:xfrm>
            <a:off x="2560320" y="1600200"/>
            <a:ext cx="1920240" cy="2148840"/>
          </a:xfrm>
          <a:prstGeom prst="roundRect">
            <a:avLst>
              <a:gd name="adj" fmla="val 3810"/>
            </a:avLst>
          </a:prstGeom>
          <a:solidFill>
            <a:srgbClr val="EEF5F6"/>
          </a:solidFill>
          <a:ln/>
        </p:spPr>
      </p:sp>
      <p:sp>
        <p:nvSpPr>
          <p:cNvPr id="13" name="Shape 10"/>
          <p:cNvSpPr/>
          <p:nvPr/>
        </p:nvSpPr>
        <p:spPr>
          <a:xfrm>
            <a:off x="2743200" y="1783080"/>
            <a:ext cx="566928" cy="566928"/>
          </a:xfrm>
          <a:prstGeom prst="ellipse">
            <a:avLst/>
          </a:prstGeom>
          <a:solidFill>
            <a:srgbClr val="0B7A73"/>
          </a:solidFill>
          <a:ln/>
        </p:spPr>
      </p:sp>
      <p:pic>
        <p:nvPicPr>
          <p:cNvPr id="14" name="Image 1" descr="preencoded.png">    </p:cNvPr>
          <p:cNvPicPr>
            <a:picLocks noChangeAspect="1"/>
          </p:cNvPicPr>
          <p:nvPr/>
        </p:nvPicPr>
        <p:blipFill>
          <a:blip r:embed="rId2"/>
          <a:stretch>
            <a:fillRect/>
          </a:stretch>
        </p:blipFill>
        <p:spPr>
          <a:xfrm>
            <a:off x="2879263" y="1919143"/>
            <a:ext cx="294803" cy="294803"/>
          </a:xfrm>
          <a:prstGeom prst="rect">
            <a:avLst/>
          </a:prstGeom>
        </p:spPr>
      </p:pic>
      <p:sp>
        <p:nvSpPr>
          <p:cNvPr id="15" name="Text 11"/>
          <p:cNvSpPr txBox="1"/>
          <p:nvPr/>
        </p:nvSpPr>
        <p:spPr>
          <a:xfrm>
            <a:off x="3931920" y="1810512"/>
            <a:ext cx="365760" cy="365760"/>
          </a:xfrm>
          <a:prstGeom prst="rect">
            <a:avLst/>
          </a:prstGeom>
          <a:noFill/>
          <a:ln/>
        </p:spPr>
        <p:txBody>
          <a:bodyPr wrap="square" lIns="0" tIns="0" rIns="0" bIns="0" rtlCol="0" anchor="t"/>
          <a:lstStyle/>
          <a:p>
            <a:pPr algn="r" indent="0" marL="0">
              <a:buNone/>
            </a:pPr>
            <a:r>
              <a:rPr lang="en-US" sz="2000" b="1" dirty="0">
                <a:solidFill>
                  <a:srgbClr val="D5E3E6"/>
                </a:solidFill>
                <a:latin typeface="Arial" pitchFamily="34" charset="0"/>
                <a:ea typeface="Arial" pitchFamily="34" charset="-122"/>
                <a:cs typeface="Arial" pitchFamily="34" charset="-120"/>
              </a:rPr>
              <a:t>2</a:t>
            </a:r>
            <a:endParaRPr lang="en-US" sz="2000" dirty="0"/>
          </a:p>
        </p:txBody>
      </p:sp>
      <p:sp>
        <p:nvSpPr>
          <p:cNvPr id="16" name="Text 12"/>
          <p:cNvSpPr txBox="1"/>
          <p:nvPr/>
        </p:nvSpPr>
        <p:spPr>
          <a:xfrm>
            <a:off x="2743200" y="2487168"/>
            <a:ext cx="1645920" cy="320040"/>
          </a:xfrm>
          <a:prstGeom prst="rect">
            <a:avLst/>
          </a:prstGeom>
          <a:noFill/>
          <a:ln/>
        </p:spPr>
        <p:txBody>
          <a:bodyPr wrap="square" lIns="0" tIns="0" rIns="0" bIns="0" rtlCol="0" anchor="t"/>
          <a:lstStyle/>
          <a:p>
            <a:pPr indent="0" marL="0">
              <a:buNone/>
            </a:pPr>
            <a:r>
              <a:rPr lang="en-US" sz="1700" b="1" dirty="0">
                <a:solidFill>
                  <a:srgbClr val="13222C"/>
                </a:solidFill>
                <a:latin typeface="Arial" pitchFamily="34" charset="0"/>
                <a:ea typeface="Arial" pitchFamily="34" charset="-122"/>
                <a:cs typeface="Arial" pitchFamily="34" charset="-120"/>
              </a:rPr>
              <a:t>Diagnose</a:t>
            </a:r>
            <a:endParaRPr lang="en-US" sz="1700" dirty="0"/>
          </a:p>
        </p:txBody>
      </p:sp>
      <p:sp>
        <p:nvSpPr>
          <p:cNvPr id="17" name="Text 13"/>
          <p:cNvSpPr txBox="1"/>
          <p:nvPr/>
        </p:nvSpPr>
        <p:spPr>
          <a:xfrm>
            <a:off x="2743200" y="2834640"/>
            <a:ext cx="1600200" cy="822960"/>
          </a:xfrm>
          <a:prstGeom prst="rect">
            <a:avLst/>
          </a:prstGeom>
          <a:noFill/>
          <a:ln/>
        </p:spPr>
        <p:txBody>
          <a:bodyPr wrap="square" lIns="0" tIns="0" rIns="0" bIns="0" rtlCol="0" anchor="t"/>
          <a:lstStyle/>
          <a:p>
            <a:pPr indent="0" marL="0">
              <a:buNone/>
            </a:pPr>
            <a:r>
              <a:rPr lang="en-US" sz="1150" dirty="0">
                <a:solidFill>
                  <a:srgbClr val="3E5260"/>
                </a:solidFill>
                <a:latin typeface="Calibri" pitchFamily="34" charset="0"/>
                <a:ea typeface="Calibri" pitchFamily="34" charset="-122"/>
                <a:cs typeface="Calibri" pitchFamily="34" charset="-120"/>
              </a:rPr>
              <a:t>Rank the root cause in one click, with evidence and the runbook fix.</a:t>
            </a:r>
            <a:endParaRPr lang="en-US" sz="1150" dirty="0"/>
          </a:p>
        </p:txBody>
      </p:sp>
      <p:sp>
        <p:nvSpPr>
          <p:cNvPr id="18" name="Shape 14"/>
          <p:cNvSpPr/>
          <p:nvPr/>
        </p:nvSpPr>
        <p:spPr>
          <a:xfrm>
            <a:off x="4663440" y="1600200"/>
            <a:ext cx="1920240" cy="2148840"/>
          </a:xfrm>
          <a:prstGeom prst="roundRect">
            <a:avLst>
              <a:gd name="adj" fmla="val 3810"/>
            </a:avLst>
          </a:prstGeom>
          <a:solidFill>
            <a:srgbClr val="EEF5F6"/>
          </a:solidFill>
          <a:ln/>
        </p:spPr>
      </p:sp>
      <p:sp>
        <p:nvSpPr>
          <p:cNvPr id="19" name="Shape 15"/>
          <p:cNvSpPr/>
          <p:nvPr/>
        </p:nvSpPr>
        <p:spPr>
          <a:xfrm>
            <a:off x="4846320" y="1783080"/>
            <a:ext cx="566928" cy="566928"/>
          </a:xfrm>
          <a:prstGeom prst="ellipse">
            <a:avLst/>
          </a:prstGeom>
          <a:solidFill>
            <a:srgbClr val="E4574B"/>
          </a:solidFill>
          <a:ln/>
        </p:spPr>
      </p:sp>
      <p:pic>
        <p:nvPicPr>
          <p:cNvPr id="20" name="Image 2" descr="preencoded.png">    </p:cNvPr>
          <p:cNvPicPr>
            <a:picLocks noChangeAspect="1"/>
          </p:cNvPicPr>
          <p:nvPr/>
        </p:nvPicPr>
        <p:blipFill>
          <a:blip r:embed="rId3"/>
          <a:stretch>
            <a:fillRect/>
          </a:stretch>
        </p:blipFill>
        <p:spPr>
          <a:xfrm>
            <a:off x="4982383" y="1919143"/>
            <a:ext cx="294803" cy="294803"/>
          </a:xfrm>
          <a:prstGeom prst="rect">
            <a:avLst/>
          </a:prstGeom>
        </p:spPr>
      </p:pic>
      <p:sp>
        <p:nvSpPr>
          <p:cNvPr id="21" name="Text 16"/>
          <p:cNvSpPr txBox="1"/>
          <p:nvPr/>
        </p:nvSpPr>
        <p:spPr>
          <a:xfrm>
            <a:off x="6035040" y="1810512"/>
            <a:ext cx="365760" cy="365760"/>
          </a:xfrm>
          <a:prstGeom prst="rect">
            <a:avLst/>
          </a:prstGeom>
          <a:noFill/>
          <a:ln/>
        </p:spPr>
        <p:txBody>
          <a:bodyPr wrap="square" lIns="0" tIns="0" rIns="0" bIns="0" rtlCol="0" anchor="t"/>
          <a:lstStyle/>
          <a:p>
            <a:pPr algn="r" indent="0" marL="0">
              <a:buNone/>
            </a:pPr>
            <a:r>
              <a:rPr lang="en-US" sz="2000" b="1" dirty="0">
                <a:solidFill>
                  <a:srgbClr val="D5E3E6"/>
                </a:solidFill>
                <a:latin typeface="Arial" pitchFamily="34" charset="0"/>
                <a:ea typeface="Arial" pitchFamily="34" charset="-122"/>
                <a:cs typeface="Arial" pitchFamily="34" charset="-120"/>
              </a:rPr>
              <a:t>3</a:t>
            </a:r>
            <a:endParaRPr lang="en-US" sz="2000" dirty="0"/>
          </a:p>
        </p:txBody>
      </p:sp>
      <p:sp>
        <p:nvSpPr>
          <p:cNvPr id="22" name="Text 17"/>
          <p:cNvSpPr txBox="1"/>
          <p:nvPr/>
        </p:nvSpPr>
        <p:spPr>
          <a:xfrm>
            <a:off x="4846320" y="2487168"/>
            <a:ext cx="1645920" cy="320040"/>
          </a:xfrm>
          <a:prstGeom prst="rect">
            <a:avLst/>
          </a:prstGeom>
          <a:noFill/>
          <a:ln/>
        </p:spPr>
        <p:txBody>
          <a:bodyPr wrap="square" lIns="0" tIns="0" rIns="0" bIns="0" rtlCol="0" anchor="t"/>
          <a:lstStyle/>
          <a:p>
            <a:pPr indent="0" marL="0">
              <a:buNone/>
            </a:pPr>
            <a:r>
              <a:rPr lang="en-US" sz="1700" b="1" dirty="0">
                <a:solidFill>
                  <a:srgbClr val="13222C"/>
                </a:solidFill>
                <a:latin typeface="Arial" pitchFamily="34" charset="0"/>
                <a:ea typeface="Arial" pitchFamily="34" charset="-122"/>
                <a:cs typeface="Arial" pitchFamily="34" charset="-120"/>
              </a:rPr>
              <a:t>Predict</a:t>
            </a:r>
            <a:endParaRPr lang="en-US" sz="1700" dirty="0"/>
          </a:p>
        </p:txBody>
      </p:sp>
      <p:sp>
        <p:nvSpPr>
          <p:cNvPr id="23" name="Text 18"/>
          <p:cNvSpPr txBox="1"/>
          <p:nvPr/>
        </p:nvSpPr>
        <p:spPr>
          <a:xfrm>
            <a:off x="4846320" y="2834640"/>
            <a:ext cx="1600200" cy="822960"/>
          </a:xfrm>
          <a:prstGeom prst="rect">
            <a:avLst/>
          </a:prstGeom>
          <a:noFill/>
          <a:ln/>
        </p:spPr>
        <p:txBody>
          <a:bodyPr wrap="square" lIns="0" tIns="0" rIns="0" bIns="0" rtlCol="0" anchor="t"/>
          <a:lstStyle/>
          <a:p>
            <a:pPr indent="0" marL="0">
              <a:buNone/>
            </a:pPr>
            <a:r>
              <a:rPr lang="en-US" sz="1150" dirty="0">
                <a:solidFill>
                  <a:srgbClr val="3E5260"/>
                </a:solidFill>
                <a:latin typeface="Calibri" pitchFamily="34" charset="0"/>
                <a:ea typeface="Calibri" pitchFamily="34" charset="-122"/>
                <a:cs typeface="Calibri" pitchFamily="34" charset="-120"/>
              </a:rPr>
              <a:t>Forecast next week's frustrated employees, explain why, price the fix.</a:t>
            </a:r>
            <a:endParaRPr lang="en-US" sz="1150" dirty="0"/>
          </a:p>
        </p:txBody>
      </p:sp>
      <p:sp>
        <p:nvSpPr>
          <p:cNvPr id="24" name="Shape 19"/>
          <p:cNvSpPr/>
          <p:nvPr/>
        </p:nvSpPr>
        <p:spPr>
          <a:xfrm>
            <a:off x="6766560" y="1600200"/>
            <a:ext cx="1920240" cy="2148840"/>
          </a:xfrm>
          <a:prstGeom prst="roundRect">
            <a:avLst>
              <a:gd name="adj" fmla="val 3810"/>
            </a:avLst>
          </a:prstGeom>
          <a:solidFill>
            <a:srgbClr val="EEF5F6"/>
          </a:solidFill>
          <a:ln/>
        </p:spPr>
      </p:sp>
      <p:sp>
        <p:nvSpPr>
          <p:cNvPr id="25" name="Shape 20"/>
          <p:cNvSpPr/>
          <p:nvPr/>
        </p:nvSpPr>
        <p:spPr>
          <a:xfrm>
            <a:off x="6949440" y="1783080"/>
            <a:ext cx="566928" cy="566928"/>
          </a:xfrm>
          <a:prstGeom prst="ellipse">
            <a:avLst/>
          </a:prstGeom>
          <a:solidFill>
            <a:srgbClr val="24506A"/>
          </a:solidFill>
          <a:ln/>
        </p:spPr>
      </p:sp>
      <p:pic>
        <p:nvPicPr>
          <p:cNvPr id="26" name="Image 3" descr="preencoded.png">    </p:cNvPr>
          <p:cNvPicPr>
            <a:picLocks noChangeAspect="1"/>
          </p:cNvPicPr>
          <p:nvPr/>
        </p:nvPicPr>
        <p:blipFill>
          <a:blip r:embed="rId4"/>
          <a:stretch>
            <a:fillRect/>
          </a:stretch>
        </p:blipFill>
        <p:spPr>
          <a:xfrm>
            <a:off x="7085503" y="1919143"/>
            <a:ext cx="294803" cy="294803"/>
          </a:xfrm>
          <a:prstGeom prst="rect">
            <a:avLst/>
          </a:prstGeom>
        </p:spPr>
      </p:pic>
      <p:sp>
        <p:nvSpPr>
          <p:cNvPr id="27" name="Text 21"/>
          <p:cNvSpPr txBox="1"/>
          <p:nvPr/>
        </p:nvSpPr>
        <p:spPr>
          <a:xfrm>
            <a:off x="8138160" y="1810512"/>
            <a:ext cx="365760" cy="365760"/>
          </a:xfrm>
          <a:prstGeom prst="rect">
            <a:avLst/>
          </a:prstGeom>
          <a:noFill/>
          <a:ln/>
        </p:spPr>
        <p:txBody>
          <a:bodyPr wrap="square" lIns="0" tIns="0" rIns="0" bIns="0" rtlCol="0" anchor="t"/>
          <a:lstStyle/>
          <a:p>
            <a:pPr algn="r" indent="0" marL="0">
              <a:buNone/>
            </a:pPr>
            <a:r>
              <a:rPr lang="en-US" sz="2000" b="1" dirty="0">
                <a:solidFill>
                  <a:srgbClr val="D5E3E6"/>
                </a:solidFill>
                <a:latin typeface="Arial" pitchFamily="34" charset="0"/>
                <a:ea typeface="Arial" pitchFamily="34" charset="-122"/>
                <a:cs typeface="Arial" pitchFamily="34" charset="-120"/>
              </a:rPr>
              <a:t>4</a:t>
            </a:r>
            <a:endParaRPr lang="en-US" sz="2000" dirty="0"/>
          </a:p>
        </p:txBody>
      </p:sp>
      <p:sp>
        <p:nvSpPr>
          <p:cNvPr id="28" name="Text 22"/>
          <p:cNvSpPr txBox="1"/>
          <p:nvPr/>
        </p:nvSpPr>
        <p:spPr>
          <a:xfrm>
            <a:off x="6949440" y="2487168"/>
            <a:ext cx="1645920" cy="320040"/>
          </a:xfrm>
          <a:prstGeom prst="rect">
            <a:avLst/>
          </a:prstGeom>
          <a:noFill/>
          <a:ln/>
        </p:spPr>
        <p:txBody>
          <a:bodyPr wrap="square" lIns="0" tIns="0" rIns="0" bIns="0" rtlCol="0" anchor="t"/>
          <a:lstStyle/>
          <a:p>
            <a:pPr indent="0" marL="0">
              <a:buNone/>
            </a:pPr>
            <a:r>
              <a:rPr lang="en-US" sz="1700" b="1" dirty="0">
                <a:solidFill>
                  <a:srgbClr val="13222C"/>
                </a:solidFill>
                <a:latin typeface="Arial" pitchFamily="34" charset="0"/>
                <a:ea typeface="Arial" pitchFamily="34" charset="-122"/>
                <a:cs typeface="Arial" pitchFamily="34" charset="-120"/>
              </a:rPr>
              <a:t>Prove</a:t>
            </a:r>
            <a:endParaRPr lang="en-US" sz="1700" dirty="0"/>
          </a:p>
        </p:txBody>
      </p:sp>
      <p:sp>
        <p:nvSpPr>
          <p:cNvPr id="29" name="Text 23"/>
          <p:cNvSpPr txBox="1"/>
          <p:nvPr/>
        </p:nvSpPr>
        <p:spPr>
          <a:xfrm>
            <a:off x="6949440" y="2834640"/>
            <a:ext cx="1600200" cy="822960"/>
          </a:xfrm>
          <a:prstGeom prst="rect">
            <a:avLst/>
          </a:prstGeom>
          <a:noFill/>
          <a:ln/>
        </p:spPr>
        <p:txBody>
          <a:bodyPr wrap="square" lIns="0" tIns="0" rIns="0" bIns="0" rtlCol="0" anchor="t"/>
          <a:lstStyle/>
          <a:p>
            <a:pPr indent="0" marL="0">
              <a:buNone/>
            </a:pPr>
            <a:r>
              <a:rPr lang="en-US" sz="1150" dirty="0">
                <a:solidFill>
                  <a:srgbClr val="3E5260"/>
                </a:solidFill>
                <a:latin typeface="Calibri" pitchFamily="34" charset="0"/>
                <a:ea typeface="Calibri" pitchFamily="34" charset="-122"/>
                <a:cs typeface="Calibri" pitchFamily="34" charset="-120"/>
              </a:rPr>
              <a:t>Measure the before and after of every fix, as a DEX Score and dollars.</a:t>
            </a:r>
            <a:endParaRPr lang="en-US" sz="1150" dirty="0"/>
          </a:p>
        </p:txBody>
      </p:sp>
      <p:sp>
        <p:nvSpPr>
          <p:cNvPr id="30" name="Shape 24"/>
          <p:cNvSpPr/>
          <p:nvPr/>
        </p:nvSpPr>
        <p:spPr>
          <a:xfrm>
            <a:off x="4709160" y="1463040"/>
            <a:ext cx="502920" cy="237744"/>
          </a:xfrm>
          <a:prstGeom prst="roundRect">
            <a:avLst>
              <a:gd name="adj" fmla="val 19231"/>
            </a:avLst>
          </a:prstGeom>
          <a:solidFill>
            <a:srgbClr val="E4574B"/>
          </a:solidFill>
          <a:ln/>
        </p:spPr>
      </p:sp>
      <p:sp>
        <p:nvSpPr>
          <p:cNvPr id="31" name="Text 25"/>
          <p:cNvSpPr txBox="1"/>
          <p:nvPr/>
        </p:nvSpPr>
        <p:spPr>
          <a:xfrm>
            <a:off x="4709160" y="1463040"/>
            <a:ext cx="5029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NEW</a:t>
            </a:r>
            <a:endParaRPr lang="en-US" sz="900" dirty="0"/>
          </a:p>
        </p:txBody>
      </p:sp>
      <p:sp>
        <p:nvSpPr>
          <p:cNvPr id="32" name="Shape 26"/>
          <p:cNvSpPr/>
          <p:nvPr/>
        </p:nvSpPr>
        <p:spPr>
          <a:xfrm>
            <a:off x="457200" y="3931920"/>
            <a:ext cx="8229600" cy="713232"/>
          </a:xfrm>
          <a:prstGeom prst="roundRect">
            <a:avLst>
              <a:gd name="adj" fmla="val 10256"/>
            </a:avLst>
          </a:prstGeom>
          <a:solidFill>
            <a:srgbClr val="0F2330"/>
          </a:solidFill>
          <a:ln/>
        </p:spPr>
      </p:sp>
      <p:sp>
        <p:nvSpPr>
          <p:cNvPr id="33" name="Shape 27"/>
          <p:cNvSpPr/>
          <p:nvPr/>
        </p:nvSpPr>
        <p:spPr>
          <a:xfrm>
            <a:off x="621792" y="4041648"/>
            <a:ext cx="493776" cy="493776"/>
          </a:xfrm>
          <a:prstGeom prst="ellipse">
            <a:avLst/>
          </a:prstGeom>
          <a:solidFill>
            <a:srgbClr val="14A89E"/>
          </a:solidFill>
          <a:ln/>
        </p:spPr>
      </p:sp>
      <p:pic>
        <p:nvPicPr>
          <p:cNvPr id="34" name="Image 4" descr="preencoded.png">    </p:cNvPr>
          <p:cNvPicPr>
            <a:picLocks noChangeAspect="1"/>
          </p:cNvPicPr>
          <p:nvPr/>
        </p:nvPicPr>
        <p:blipFill>
          <a:blip r:embed="rId5"/>
          <a:stretch>
            <a:fillRect/>
          </a:stretch>
        </p:blipFill>
        <p:spPr>
          <a:xfrm>
            <a:off x="740298" y="4160154"/>
            <a:ext cx="256764" cy="256764"/>
          </a:xfrm>
          <a:prstGeom prst="rect">
            <a:avLst/>
          </a:prstGeom>
        </p:spPr>
      </p:pic>
      <p:sp>
        <p:nvSpPr>
          <p:cNvPr id="35" name="Text 28"/>
          <p:cNvSpPr txBox="1"/>
          <p:nvPr/>
        </p:nvSpPr>
        <p:spPr>
          <a:xfrm>
            <a:off x="1280160" y="4041648"/>
            <a:ext cx="722376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DEX Copilot  </a:t>
            </a:r>
            <a:pPr indent="0" marL="0">
              <a:buNone/>
            </a:pPr>
            <a:r>
              <a:rPr lang="en-US" sz="1250" dirty="0">
                <a:solidFill>
                  <a:srgbClr val="C9DCE3"/>
                </a:solidFill>
                <a:latin typeface="Calibri" pitchFamily="34" charset="0"/>
                <a:ea typeface="Calibri" pitchFamily="34" charset="-122"/>
                <a:cs typeface="Calibri" pitchFamily="34" charset="-120"/>
              </a:rPr>
              <a:t>Ask in plain English. A Claude agent answers using 8 tools over the engines, cites its sources, and runs offline without a key.</a:t>
            </a:r>
            <a:endParaRPr lang="en-US" sz="1250" dirty="0"/>
          </a:p>
        </p:txBody>
      </p:sp>
      <p:sp>
        <p:nvSpPr>
          <p:cNvPr id="36" name="Text 29"/>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4 / 15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B86E0E"/>
                </a:solidFill>
                <a:latin typeface="Arial" pitchFamily="34" charset="0"/>
                <a:ea typeface="Arial" pitchFamily="34" charset="-122"/>
                <a:cs typeface="Arial" pitchFamily="34" charset="-120"/>
              </a:rPr>
              <a:t>MOVE 1 · FUSE</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13222C"/>
                </a:solidFill>
                <a:latin typeface="Arial" pitchFamily="34" charset="0"/>
                <a:ea typeface="Arial" pitchFamily="34" charset="-122"/>
                <a:cs typeface="Arial" pitchFamily="34" charset="-120"/>
              </a:rPr>
              <a:t>Frustration isn't random. It rises with every telemetry breach</a:t>
            </a:r>
            <a:endParaRPr lang="en-US" sz="2600" dirty="0"/>
          </a:p>
        </p:txBody>
      </p:sp>
      <p:sp>
        <p:nvSpPr>
          <p:cNvPr id="6" name="Shape 4"/>
          <p:cNvSpPr/>
          <p:nvPr/>
        </p:nvSpPr>
        <p:spPr>
          <a:xfrm>
            <a:off x="457200" y="1554480"/>
            <a:ext cx="4937760" cy="3108960"/>
          </a:xfrm>
          <a:prstGeom prst="roundRect">
            <a:avLst>
              <a:gd name="adj" fmla="val 2353"/>
            </a:avLst>
          </a:prstGeom>
          <a:solidFill>
            <a:srgbClr val="EEF5F6"/>
          </a:solidFill>
          <a:ln/>
        </p:spPr>
      </p:sp>
      <p:graphicFrame>
        <p:nvGraphicFramePr>
          <p:cNvPr id="7" name="Chart 0" descr=""/>
          <p:cNvGraphicFramePr/>
          <p:nvPr/>
        </p:nvGraphicFramePr>
        <p:xfrm>
          <a:off x="594360" y="1645920"/>
          <a:ext cx="4663440" cy="29260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760720" y="1600200"/>
            <a:ext cx="2926080" cy="685800"/>
          </a:xfrm>
          <a:prstGeom prst="rect">
            <a:avLst/>
          </a:prstGeom>
          <a:noFill/>
          <a:ln/>
        </p:spPr>
        <p:txBody>
          <a:bodyPr wrap="square" lIns="0" tIns="0" rIns="0" bIns="0" rtlCol="0" anchor="t"/>
          <a:lstStyle/>
          <a:p>
            <a:pPr indent="0" marL="0">
              <a:buNone/>
            </a:pPr>
            <a:r>
              <a:rPr lang="en-US" sz="4400" b="1" dirty="0">
                <a:solidFill>
                  <a:srgbClr val="0B7A73"/>
                </a:solidFill>
                <a:latin typeface="Arial" pitchFamily="34" charset="0"/>
                <a:ea typeface="Arial" pitchFamily="34" charset="-122"/>
                <a:cs typeface="Arial" pitchFamily="34" charset="-120"/>
              </a:rPr>
              <a:t>0.83</a:t>
            </a:r>
            <a:endParaRPr lang="en-US" sz="4400" dirty="0"/>
          </a:p>
        </p:txBody>
      </p:sp>
      <p:sp>
        <p:nvSpPr>
          <p:cNvPr id="9" name="Text 6"/>
          <p:cNvSpPr txBox="1"/>
          <p:nvPr/>
        </p:nvSpPr>
        <p:spPr>
          <a:xfrm>
            <a:off x="5760720" y="2286000"/>
            <a:ext cx="2834640" cy="457200"/>
          </a:xfrm>
          <a:prstGeom prst="rect">
            <a:avLst/>
          </a:prstGeom>
          <a:noFill/>
          <a:ln/>
        </p:spPr>
        <p:txBody>
          <a:bodyPr wrap="square" lIns="0" tIns="0" rIns="0" bIns="0" rtlCol="0" anchor="t"/>
          <a:lstStyle/>
          <a:p>
            <a:pPr indent="0" marL="0">
              <a:buNone/>
            </a:pPr>
            <a:r>
              <a:rPr lang="en-US" sz="1200" dirty="0">
                <a:solidFill>
                  <a:srgbClr val="3E5260"/>
                </a:solidFill>
                <a:latin typeface="Calibri" pitchFamily="34" charset="0"/>
                <a:ea typeface="Calibri" pitchFamily="34" charset="-122"/>
                <a:cs typeface="Calibri" pitchFamily="34" charset="-120"/>
              </a:rPr>
              <a:t>correlation between ticket frustration and telemetry severity</a:t>
            </a:r>
            <a:endParaRPr lang="en-US" sz="1200" dirty="0"/>
          </a:p>
        </p:txBody>
      </p:sp>
      <p:sp>
        <p:nvSpPr>
          <p:cNvPr id="10" name="Text 7"/>
          <p:cNvSpPr txBox="1"/>
          <p:nvPr/>
        </p:nvSpPr>
        <p:spPr>
          <a:xfrm>
            <a:off x="5760720" y="2926080"/>
            <a:ext cx="2926080" cy="685800"/>
          </a:xfrm>
          <a:prstGeom prst="rect">
            <a:avLst/>
          </a:prstGeom>
          <a:noFill/>
          <a:ln/>
        </p:spPr>
        <p:txBody>
          <a:bodyPr wrap="square" lIns="0" tIns="0" rIns="0" bIns="0" rtlCol="0" anchor="t"/>
          <a:lstStyle/>
          <a:p>
            <a:pPr indent="0" marL="0">
              <a:buNone/>
            </a:pPr>
            <a:r>
              <a:rPr lang="en-US" sz="4400" b="1" dirty="0">
                <a:solidFill>
                  <a:srgbClr val="B86E0E"/>
                </a:solidFill>
                <a:latin typeface="Arial" pitchFamily="34" charset="0"/>
                <a:ea typeface="Arial" pitchFamily="34" charset="-122"/>
                <a:cs typeface="Arial" pitchFamily="34" charset="-120"/>
              </a:rPr>
              <a:t>40</a:t>
            </a:r>
            <a:endParaRPr lang="en-US" sz="4400" dirty="0"/>
          </a:p>
        </p:txBody>
      </p:sp>
      <p:sp>
        <p:nvSpPr>
          <p:cNvPr id="11" name="Text 8"/>
          <p:cNvSpPr txBox="1"/>
          <p:nvPr/>
        </p:nvSpPr>
        <p:spPr>
          <a:xfrm>
            <a:off x="5760720" y="3611880"/>
            <a:ext cx="2834640" cy="548640"/>
          </a:xfrm>
          <a:prstGeom prst="rect">
            <a:avLst/>
          </a:prstGeom>
          <a:noFill/>
          <a:ln/>
        </p:spPr>
        <p:txBody>
          <a:bodyPr wrap="square" lIns="0" tIns="0" rIns="0" bIns="0" rtlCol="0" anchor="t"/>
          <a:lstStyle/>
          <a:p>
            <a:pPr indent="0" marL="0">
              <a:buNone/>
            </a:pPr>
            <a:r>
              <a:rPr lang="en-US" sz="1200" dirty="0">
                <a:solidFill>
                  <a:srgbClr val="3E5260"/>
                </a:solidFill>
                <a:latin typeface="Calibri" pitchFamily="34" charset="0"/>
                <a:ea typeface="Calibri" pitchFamily="34" charset="-122"/>
                <a:cs typeface="Calibri" pitchFamily="34" charset="-120"/>
              </a:rPr>
              <a:t>excess tickets from the #1 driver, network latency, at average frustration 82</a:t>
            </a:r>
            <a:endParaRPr lang="en-US" sz="1200" dirty="0"/>
          </a:p>
        </p:txBody>
      </p:sp>
      <p:sp>
        <p:nvSpPr>
          <p:cNvPr id="12" name="Text 9"/>
          <p:cNvSpPr txBox="1"/>
          <p:nvPr/>
        </p:nvSpPr>
        <p:spPr>
          <a:xfrm>
            <a:off x="5760720" y="4315968"/>
            <a:ext cx="2926080" cy="365760"/>
          </a:xfrm>
          <a:prstGeom prst="rect">
            <a:avLst/>
          </a:prstGeom>
          <a:noFill/>
          <a:ln/>
        </p:spPr>
        <p:txBody>
          <a:bodyPr wrap="square" lIns="0" tIns="0" rIns="0" bIns="0" rtlCol="0" anchor="t"/>
          <a:lstStyle/>
          <a:p>
            <a:pPr indent="0" marL="0">
              <a:buNone/>
            </a:pPr>
            <a:r>
              <a:rPr lang="en-US" sz="1000" dirty="0">
                <a:solidFill>
                  <a:srgbClr val="7B8E99"/>
                </a:solidFill>
                <a:latin typeface="Calibri" pitchFamily="34" charset="0"/>
                <a:ea typeface="Calibri" pitchFamily="34" charset="-122"/>
                <a:cs typeface="Calibri" pitchFamily="34" charset="-120"/>
              </a:rPr>
              <a:t>Pearson + Spearman with p-values · bucket lift · incidence lift · impact ranking</a:t>
            </a:r>
            <a:endParaRPr lang="en-US" sz="1000" dirty="0"/>
          </a:p>
        </p:txBody>
      </p:sp>
      <p:sp>
        <p:nvSpPr>
          <p:cNvPr id="13" name="Text 10"/>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5 / 15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B86E0E"/>
                </a:solidFill>
                <a:latin typeface="Arial" pitchFamily="34" charset="0"/>
                <a:ea typeface="Arial" pitchFamily="34" charset="-122"/>
                <a:cs typeface="Arial" pitchFamily="34" charset="-120"/>
              </a:rPr>
              <a:t>MOVE 2 · DIAGNOSE</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13222C"/>
                </a:solidFill>
                <a:latin typeface="Arial" pitchFamily="34" charset="0"/>
                <a:ea typeface="Arial" pitchFamily="34" charset="-122"/>
                <a:cs typeface="Arial" pitchFamily="34" charset="-120"/>
              </a:rPr>
              <a:t>From “Outlook keeps crashing” to a proven fix in one click</a:t>
            </a:r>
            <a:endParaRPr lang="en-US" sz="2600" dirty="0"/>
          </a:p>
        </p:txBody>
      </p:sp>
      <p:sp>
        <p:nvSpPr>
          <p:cNvPr id="6" name="Shape 4"/>
          <p:cNvSpPr/>
          <p:nvPr/>
        </p:nvSpPr>
        <p:spPr>
          <a:xfrm>
            <a:off x="457200" y="1600200"/>
            <a:ext cx="2560320" cy="2377440"/>
          </a:xfrm>
          <a:prstGeom prst="roundRect">
            <a:avLst>
              <a:gd name="adj" fmla="val 3077"/>
            </a:avLst>
          </a:prstGeom>
          <a:solidFill>
            <a:srgbClr val="EEF5F6"/>
          </a:solidFill>
          <a:ln/>
        </p:spPr>
      </p:sp>
      <p:sp>
        <p:nvSpPr>
          <p:cNvPr id="7" name="Text 5"/>
          <p:cNvSpPr txBox="1"/>
          <p:nvPr/>
        </p:nvSpPr>
        <p:spPr>
          <a:xfrm>
            <a:off x="658368" y="1755648"/>
            <a:ext cx="2194560" cy="228600"/>
          </a:xfrm>
          <a:prstGeom prst="rect">
            <a:avLst/>
          </a:prstGeom>
          <a:noFill/>
          <a:ln/>
        </p:spPr>
        <p:txBody>
          <a:bodyPr wrap="square" lIns="0" tIns="0" rIns="0" bIns="0" rtlCol="0" anchor="t"/>
          <a:lstStyle/>
          <a:p>
            <a:pPr indent="0" marL="0">
              <a:buNone/>
            </a:pPr>
            <a:r>
              <a:rPr lang="en-US" sz="1000" b="1" spc="200" kern="0" dirty="0">
                <a:solidFill>
                  <a:srgbClr val="B86E0E"/>
                </a:solidFill>
                <a:latin typeface="Arial" pitchFamily="34" charset="0"/>
                <a:ea typeface="Arial" pitchFamily="34" charset="-122"/>
                <a:cs typeface="Arial" pitchFamily="34" charset="-120"/>
              </a:rPr>
              <a:t>WHAT THEY SAID</a:t>
            </a:r>
            <a:endParaRPr lang="en-US" sz="1000" dirty="0"/>
          </a:p>
        </p:txBody>
      </p:sp>
      <p:sp>
        <p:nvSpPr>
          <p:cNvPr id="8" name="Text 6"/>
          <p:cNvSpPr txBox="1"/>
          <p:nvPr/>
        </p:nvSpPr>
        <p:spPr>
          <a:xfrm>
            <a:off x="658368" y="2084832"/>
            <a:ext cx="2194560" cy="1783080"/>
          </a:xfrm>
          <a:prstGeom prst="rect">
            <a:avLst/>
          </a:prstGeom>
          <a:noFill/>
          <a:ln/>
        </p:spPr>
        <p:txBody>
          <a:bodyPr wrap="square" lIns="0" tIns="0" rIns="0" bIns="0" rtlCol="0" anchor="t"/>
          <a:lstStyle/>
          <a:p>
            <a:pPr indent="0" marL="0">
              <a:spcAft>
                <a:spcPts val="800"/>
              </a:spcAft>
              <a:buNone/>
            </a:pPr>
            <a:r>
              <a:rPr lang="en-US" sz="1500" b="1" dirty="0">
                <a:solidFill>
                  <a:srgbClr val="13222C"/>
                </a:solidFill>
                <a:latin typeface="Calibri" pitchFamily="34" charset="0"/>
                <a:ea typeface="Calibri" pitchFamily="34" charset="-122"/>
                <a:cs typeface="Calibri" pitchFamily="34" charset="-120"/>
              </a:rPr>
              <a:t>“This is unacceptable at this point. Outlook keeps crashing.”</a:t>
            </a:r>
            <a:endParaRPr lang="en-US" sz="1500" dirty="0"/>
          </a:p>
          <a:p>
            <a:pPr indent="0" marL="0">
              <a:spcAft>
                <a:spcPts val="800"/>
              </a:spcAft>
              <a:buNone/>
            </a:pPr>
            <a:r>
              <a:rPr lang="en-US" sz="1150" dirty="0">
                <a:solidFill>
                  <a:srgbClr val="3E5260"/>
                </a:solidFill>
                <a:latin typeface="Calibri" pitchFamily="34" charset="0"/>
                <a:ea typeface="Calibri" pitchFamily="34" charset="-122"/>
                <a:cs typeface="Calibri" pitchFamily="34" charset="-120"/>
              </a:rPr>
              <a:t>Frustration 62 / 100  ·  High  ·  Anger</a:t>
            </a:r>
            <a:endParaRPr lang="en-US" sz="1500" dirty="0"/>
          </a:p>
          <a:p>
            <a:pPr indent="0" marL="0">
              <a:spcAft>
                <a:spcPts val="800"/>
              </a:spcAft>
              <a:buNone/>
            </a:pPr>
            <a:r>
              <a:rPr lang="en-US" sz="1150" dirty="0">
                <a:solidFill>
                  <a:srgbClr val="3E5260"/>
                </a:solidFill>
                <a:latin typeface="Calibri" pitchFamily="34" charset="0"/>
                <a:ea typeface="Calibri" pitchFamily="34" charset="-122"/>
                <a:cs typeface="Calibri" pitchFamily="34" charset="-120"/>
              </a:rPr>
              <a:t>8 baseline + 54 for “unacceptable”</a:t>
            </a:r>
            <a:endParaRPr lang="en-US" sz="1500" dirty="0"/>
          </a:p>
        </p:txBody>
      </p:sp>
      <p:sp>
        <p:nvSpPr>
          <p:cNvPr id="9" name="Text 7"/>
          <p:cNvSpPr txBox="1"/>
          <p:nvPr/>
        </p:nvSpPr>
        <p:spPr>
          <a:xfrm>
            <a:off x="3017520" y="2514600"/>
            <a:ext cx="274320" cy="457200"/>
          </a:xfrm>
          <a:prstGeom prst="rect">
            <a:avLst/>
          </a:prstGeom>
          <a:noFill/>
          <a:ln/>
        </p:spPr>
        <p:txBody>
          <a:bodyPr wrap="square" lIns="0" tIns="0" rIns="0" bIns="0" rtlCol="0" anchor="t"/>
          <a:lstStyle/>
          <a:p>
            <a:pPr algn="ctr" indent="0" marL="0">
              <a:buNone/>
            </a:pPr>
            <a:r>
              <a:rPr lang="en-US" sz="2400" b="1" dirty="0">
                <a:solidFill>
                  <a:srgbClr val="7B8E99"/>
                </a:solidFill>
                <a:latin typeface="Arial" pitchFamily="34" charset="0"/>
                <a:ea typeface="Arial" pitchFamily="34" charset="-122"/>
                <a:cs typeface="Arial" pitchFamily="34" charset="-120"/>
              </a:rPr>
              <a:t>+</a:t>
            </a:r>
            <a:endParaRPr lang="en-US" sz="2400" dirty="0"/>
          </a:p>
        </p:txBody>
      </p:sp>
      <p:sp>
        <p:nvSpPr>
          <p:cNvPr id="10" name="Shape 8"/>
          <p:cNvSpPr/>
          <p:nvPr/>
        </p:nvSpPr>
        <p:spPr>
          <a:xfrm>
            <a:off x="3291840" y="1600200"/>
            <a:ext cx="2560320" cy="2377440"/>
          </a:xfrm>
          <a:prstGeom prst="roundRect">
            <a:avLst>
              <a:gd name="adj" fmla="val 3077"/>
            </a:avLst>
          </a:prstGeom>
          <a:solidFill>
            <a:srgbClr val="EEF5F6"/>
          </a:solidFill>
          <a:ln/>
        </p:spPr>
      </p:sp>
      <p:sp>
        <p:nvSpPr>
          <p:cNvPr id="11" name="Text 9"/>
          <p:cNvSpPr txBox="1"/>
          <p:nvPr/>
        </p:nvSpPr>
        <p:spPr>
          <a:xfrm>
            <a:off x="3493008" y="1755648"/>
            <a:ext cx="2194560" cy="228600"/>
          </a:xfrm>
          <a:prstGeom prst="rect">
            <a:avLst/>
          </a:prstGeom>
          <a:noFill/>
          <a:ln/>
        </p:spPr>
        <p:txBody>
          <a:bodyPr wrap="square" lIns="0" tIns="0" rIns="0" bIns="0" rtlCol="0" anchor="t"/>
          <a:lstStyle/>
          <a:p>
            <a:pPr indent="0" marL="0">
              <a:buNone/>
            </a:pPr>
            <a:r>
              <a:rPr lang="en-US" sz="1000" b="1" spc="200" kern="0" dirty="0">
                <a:solidFill>
                  <a:srgbClr val="0B7A73"/>
                </a:solidFill>
                <a:latin typeface="Arial" pitchFamily="34" charset="0"/>
                <a:ea typeface="Arial" pitchFamily="34" charset="-122"/>
                <a:cs typeface="Arial" pitchFamily="34" charset="-120"/>
              </a:rPr>
              <a:t>WHAT THE DEVICE DID</a:t>
            </a:r>
            <a:endParaRPr lang="en-US" sz="1000" dirty="0"/>
          </a:p>
        </p:txBody>
      </p:sp>
      <p:sp>
        <p:nvSpPr>
          <p:cNvPr id="12" name="Text 10"/>
          <p:cNvSpPr txBox="1"/>
          <p:nvPr/>
        </p:nvSpPr>
        <p:spPr>
          <a:xfrm>
            <a:off x="3493008" y="2084832"/>
            <a:ext cx="2194560" cy="1783080"/>
          </a:xfrm>
          <a:prstGeom prst="rect">
            <a:avLst/>
          </a:prstGeom>
          <a:noFill/>
          <a:ln/>
        </p:spPr>
        <p:txBody>
          <a:bodyPr wrap="square" lIns="0" tIns="0" rIns="0" bIns="0" rtlCol="0" anchor="t"/>
          <a:lstStyle/>
          <a:p>
            <a:pPr indent="0" marL="0">
              <a:spcAft>
                <a:spcPts val="800"/>
              </a:spcAft>
              <a:buNone/>
            </a:pPr>
            <a:r>
              <a:rPr lang="en-US" sz="1500" b="1" dirty="0">
                <a:solidFill>
                  <a:srgbClr val="13222C"/>
                </a:solidFill>
                <a:latin typeface="Calibri" pitchFamily="34" charset="0"/>
                <a:ea typeface="Calibri" pitchFamily="34" charset="-122"/>
                <a:cs typeface="Calibri" pitchFamily="34" charset="-120"/>
              </a:rPr>
              <a:t>9 app hangs this week (critical above 6)</a:t>
            </a:r>
            <a:endParaRPr lang="en-US" sz="1500" dirty="0"/>
          </a:p>
          <a:p>
            <a:pPr indent="0" marL="0">
              <a:spcAft>
                <a:spcPts val="800"/>
              </a:spcAft>
              <a:buNone/>
            </a:pPr>
            <a:r>
              <a:rPr lang="en-US" sz="1150" dirty="0">
                <a:solidFill>
                  <a:srgbClr val="3E5260"/>
                </a:solidFill>
                <a:latin typeface="Calibri" pitchFamily="34" charset="0"/>
                <a:ea typeface="Calibri" pitchFamily="34" charset="-122"/>
                <a:cs typeface="Calibri" pitchFamily="34" charset="-120"/>
              </a:rPr>
              <a:t>Device Health 68.3  ·  Degraded</a:t>
            </a:r>
            <a:endParaRPr lang="en-US" sz="1500" dirty="0"/>
          </a:p>
          <a:p>
            <a:pPr indent="0" marL="0">
              <a:spcAft>
                <a:spcPts val="800"/>
              </a:spcAft>
              <a:buNone/>
            </a:pPr>
            <a:r>
              <a:rPr lang="en-US" sz="1150" dirty="0">
                <a:solidFill>
                  <a:srgbClr val="3E5260"/>
                </a:solidFill>
                <a:latin typeface="Calibri" pitchFamily="34" charset="0"/>
                <a:ea typeface="Calibri" pitchFamily="34" charset="-122"/>
                <a:cs typeface="Calibri" pitchFamily="34" charset="-120"/>
              </a:rPr>
              <a:t>Telemetry severity 68 / 100</a:t>
            </a:r>
            <a:endParaRPr lang="en-US" sz="1500" dirty="0"/>
          </a:p>
        </p:txBody>
      </p:sp>
      <p:sp>
        <p:nvSpPr>
          <p:cNvPr id="13" name="Text 11"/>
          <p:cNvSpPr txBox="1"/>
          <p:nvPr/>
        </p:nvSpPr>
        <p:spPr>
          <a:xfrm>
            <a:off x="5852160" y="2514600"/>
            <a:ext cx="274320" cy="457200"/>
          </a:xfrm>
          <a:prstGeom prst="rect">
            <a:avLst/>
          </a:prstGeom>
          <a:noFill/>
          <a:ln/>
        </p:spPr>
        <p:txBody>
          <a:bodyPr wrap="square" lIns="0" tIns="0" rIns="0" bIns="0" rtlCol="0" anchor="t"/>
          <a:lstStyle/>
          <a:p>
            <a:pPr algn="ctr" indent="0" marL="0">
              <a:buNone/>
            </a:pPr>
            <a:r>
              <a:rPr lang="en-US" sz="2400" b="1" dirty="0">
                <a:solidFill>
                  <a:srgbClr val="7B8E99"/>
                </a:solidFill>
                <a:latin typeface="Arial" pitchFamily="34" charset="0"/>
                <a:ea typeface="Arial" pitchFamily="34" charset="-122"/>
                <a:cs typeface="Arial" pitchFamily="34" charset="-120"/>
              </a:rPr>
              <a:t>+</a:t>
            </a:r>
            <a:endParaRPr lang="en-US" sz="2400" dirty="0"/>
          </a:p>
        </p:txBody>
      </p:sp>
      <p:sp>
        <p:nvSpPr>
          <p:cNvPr id="14" name="Shape 12"/>
          <p:cNvSpPr/>
          <p:nvPr/>
        </p:nvSpPr>
        <p:spPr>
          <a:xfrm>
            <a:off x="6126480" y="1600200"/>
            <a:ext cx="2560320" cy="2377440"/>
          </a:xfrm>
          <a:prstGeom prst="roundRect">
            <a:avLst>
              <a:gd name="adj" fmla="val 3077"/>
            </a:avLst>
          </a:prstGeom>
          <a:solidFill>
            <a:srgbClr val="0F2330"/>
          </a:solidFill>
          <a:ln/>
        </p:spPr>
      </p:sp>
      <p:sp>
        <p:nvSpPr>
          <p:cNvPr id="15" name="Text 13"/>
          <p:cNvSpPr txBox="1"/>
          <p:nvPr/>
        </p:nvSpPr>
        <p:spPr>
          <a:xfrm>
            <a:off x="6327648" y="1755648"/>
            <a:ext cx="2194560" cy="228600"/>
          </a:xfrm>
          <a:prstGeom prst="rect">
            <a:avLst/>
          </a:prstGeom>
          <a:noFill/>
          <a:ln/>
        </p:spPr>
        <p:txBody>
          <a:bodyPr wrap="square" lIns="0" tIns="0" rIns="0" bIns="0" rtlCol="0" anchor="t"/>
          <a:lstStyle/>
          <a:p>
            <a:pPr indent="0" marL="0">
              <a:buNone/>
            </a:pPr>
            <a:r>
              <a:rPr lang="en-US" sz="1000" b="1" spc="200" kern="0" dirty="0">
                <a:solidFill>
                  <a:srgbClr val="F2A33A"/>
                </a:solidFill>
                <a:latin typeface="Arial" pitchFamily="34" charset="0"/>
                <a:ea typeface="Arial" pitchFamily="34" charset="-122"/>
                <a:cs typeface="Arial" pitchFamily="34" charset="-120"/>
              </a:rPr>
              <a:t>DEX SENTINEL SAYS</a:t>
            </a:r>
            <a:endParaRPr lang="en-US" sz="1000" dirty="0"/>
          </a:p>
        </p:txBody>
      </p:sp>
      <p:sp>
        <p:nvSpPr>
          <p:cNvPr id="16" name="Text 14"/>
          <p:cNvSpPr txBox="1"/>
          <p:nvPr/>
        </p:nvSpPr>
        <p:spPr>
          <a:xfrm>
            <a:off x="6327648" y="2084832"/>
            <a:ext cx="2194560" cy="1783080"/>
          </a:xfrm>
          <a:prstGeom prst="rect">
            <a:avLst/>
          </a:prstGeom>
          <a:noFill/>
          <a:ln/>
        </p:spPr>
        <p:txBody>
          <a:bodyPr wrap="square" lIns="0" tIns="0" rIns="0" bIns="0" rtlCol="0" anchor="t"/>
          <a:lstStyle/>
          <a:p>
            <a:pPr indent="0" marL="0">
              <a:spcAft>
                <a:spcPts val="800"/>
              </a:spcAft>
              <a:buNone/>
            </a:pPr>
            <a:r>
              <a:rPr lang="en-US" sz="1500" b="1" dirty="0">
                <a:solidFill>
                  <a:srgbClr val="FFFFFF"/>
                </a:solidFill>
                <a:latin typeface="Calibri" pitchFamily="34" charset="0"/>
                <a:ea typeface="Calibri" pitchFamily="34" charset="-122"/>
                <a:cs typeface="Calibri" pitchFamily="34" charset="-120"/>
              </a:rPr>
              <a:t>Application Crash</a:t>
            </a:r>
            <a:endParaRPr lang="en-US" sz="1500" dirty="0"/>
          </a:p>
          <a:p>
            <a:pPr indent="0" marL="0">
              <a:spcAft>
                <a:spcPts val="800"/>
              </a:spcAft>
              <a:buNone/>
            </a:pPr>
            <a:r>
              <a:rPr lang="en-US" sz="1150" dirty="0">
                <a:solidFill>
                  <a:srgbClr val="C9DCE3"/>
                </a:solidFill>
                <a:latin typeface="Calibri" pitchFamily="34" charset="0"/>
                <a:ea typeface="Calibri" pitchFamily="34" charset="-122"/>
                <a:cs typeface="Calibri" pitchFamily="34" charset="-120"/>
              </a:rPr>
              <a:t>100% likelihood  ·  99% confidence</a:t>
            </a:r>
            <a:endParaRPr lang="en-US" sz="1500" dirty="0"/>
          </a:p>
          <a:p>
            <a:pPr indent="0" marL="0">
              <a:spcAft>
                <a:spcPts val="800"/>
              </a:spcAft>
              <a:buNone/>
            </a:pPr>
            <a:r>
              <a:rPr lang="en-US" sz="1150" dirty="0">
                <a:solidFill>
                  <a:srgbClr val="C9DCE3"/>
                </a:solidFill>
                <a:latin typeface="Calibri" pitchFamily="34" charset="0"/>
                <a:ea typeface="Calibri" pitchFamily="34" charset="-122"/>
                <a:cs typeface="Calibri" pitchFamily="34" charset="-120"/>
              </a:rPr>
              <a:t>Fix: reinstall + patch (KB-APP-001), expect −64% tickets</a:t>
            </a:r>
            <a:endParaRPr lang="en-US" sz="1500" dirty="0"/>
          </a:p>
        </p:txBody>
      </p:sp>
      <p:sp>
        <p:nvSpPr>
          <p:cNvPr id="17" name="Shape 15"/>
          <p:cNvSpPr/>
          <p:nvPr/>
        </p:nvSpPr>
        <p:spPr>
          <a:xfrm>
            <a:off x="457200" y="4160520"/>
            <a:ext cx="8229600" cy="502920"/>
          </a:xfrm>
          <a:prstGeom prst="roundRect">
            <a:avLst>
              <a:gd name="adj" fmla="val 14545"/>
            </a:avLst>
          </a:prstGeom>
          <a:solidFill>
            <a:srgbClr val="EEF5F6"/>
          </a:solidFill>
          <a:ln/>
        </p:spPr>
      </p:sp>
      <p:sp>
        <p:nvSpPr>
          <p:cNvPr id="18" name="Text 16"/>
          <p:cNvSpPr txBox="1"/>
          <p:nvPr/>
        </p:nvSpPr>
        <p:spPr>
          <a:xfrm>
            <a:off x="640080" y="4160520"/>
            <a:ext cx="7863840" cy="502920"/>
          </a:xfrm>
          <a:prstGeom prst="rect">
            <a:avLst/>
          </a:prstGeom>
          <a:noFill/>
          <a:ln/>
        </p:spPr>
        <p:txBody>
          <a:bodyPr wrap="square" lIns="0" tIns="0" rIns="0" bIns="0" rtlCol="0" anchor="ctr"/>
          <a:lstStyle/>
          <a:p>
            <a:pPr indent="0" marL="0">
              <a:buNone/>
            </a:pPr>
            <a:r>
              <a:rPr lang="en-US" sz="1150" b="1" dirty="0">
                <a:solidFill>
                  <a:srgbClr val="13222C"/>
                </a:solidFill>
                <a:latin typeface="Calibri" pitchFamily="34" charset="0"/>
                <a:ea typeface="Calibri" pitchFamily="34" charset="-122"/>
                <a:cs typeface="Calibri" pitchFamily="34" charset="-120"/>
              </a:rPr>
              <a:t>Fused score = 0.65 × telemetry severity + 0.35 × text signal</a:t>
            </a:r>
            <a:pPr indent="0" marL="0">
              <a:buNone/>
            </a:pPr>
            <a:r>
              <a:rPr lang="en-US" sz="1150" dirty="0">
                <a:solidFill>
                  <a:srgbClr val="3E5260"/>
                </a:solidFill>
                <a:latin typeface="Calibri" pitchFamily="34" charset="0"/>
                <a:ea typeface="Calibri" pitchFamily="34" charset="-122"/>
                <a:cs typeface="Calibri" pitchFamily="34" charset="-120"/>
              </a:rPr>
              <a:t>   ·   then sub-cause rules and evidence   ·   ML second opinion agrees</a:t>
            </a:r>
            <a:endParaRPr lang="en-US" sz="1150" dirty="0"/>
          </a:p>
        </p:txBody>
      </p:sp>
      <p:sp>
        <p:nvSpPr>
          <p:cNvPr id="19" name="Text 17"/>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6 / 15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330"/>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F2A33A"/>
                </a:solidFill>
                <a:latin typeface="Arial" pitchFamily="34" charset="0"/>
                <a:ea typeface="Arial" pitchFamily="34" charset="-122"/>
                <a:cs typeface="Arial" pitchFamily="34" charset="-120"/>
              </a:rPr>
              <a:t>MOVE 3 · PREDICT  ·  NEW</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We see next week's frustrated employees before they call</a:t>
            </a:r>
            <a:endParaRPr lang="en-US" sz="2600" dirty="0"/>
          </a:p>
        </p:txBody>
      </p:sp>
      <p:sp>
        <p:nvSpPr>
          <p:cNvPr id="6" name="Text 4"/>
          <p:cNvSpPr txBox="1"/>
          <p:nvPr/>
        </p:nvSpPr>
        <p:spPr>
          <a:xfrm>
            <a:off x="457200" y="1600200"/>
            <a:ext cx="2377440" cy="1005840"/>
          </a:xfrm>
          <a:prstGeom prst="rect">
            <a:avLst/>
          </a:prstGeom>
          <a:noFill/>
          <a:ln/>
        </p:spPr>
        <p:txBody>
          <a:bodyPr wrap="square" lIns="0" tIns="0" rIns="0" bIns="0" rtlCol="0" anchor="t"/>
          <a:lstStyle/>
          <a:p>
            <a:pPr indent="0" marL="0">
              <a:buNone/>
            </a:pPr>
            <a:r>
              <a:rPr lang="en-US" sz="6400" b="1" dirty="0">
                <a:solidFill>
                  <a:srgbClr val="14A89E"/>
                </a:solidFill>
                <a:latin typeface="Arial" pitchFamily="34" charset="0"/>
                <a:ea typeface="Arial" pitchFamily="34" charset="-122"/>
                <a:cs typeface="Arial" pitchFamily="34" charset="-120"/>
              </a:rPr>
              <a:t>72%</a:t>
            </a:r>
            <a:endParaRPr lang="en-US" sz="6400" dirty="0"/>
          </a:p>
        </p:txBody>
      </p:sp>
      <p:sp>
        <p:nvSpPr>
          <p:cNvPr id="7" name="Text 5"/>
          <p:cNvSpPr txBox="1"/>
          <p:nvPr/>
        </p:nvSpPr>
        <p:spPr>
          <a:xfrm>
            <a:off x="2697480" y="1920240"/>
            <a:ext cx="1463040" cy="548640"/>
          </a:xfrm>
          <a:prstGeom prst="rect">
            <a:avLst/>
          </a:prstGeom>
          <a:noFill/>
          <a:ln/>
        </p:spPr>
        <p:txBody>
          <a:bodyPr wrap="square" lIns="0" tIns="0" rIns="0" bIns="0" rtlCol="0" anchor="t"/>
          <a:lstStyle/>
          <a:p>
            <a:pPr indent="0" marL="0">
              <a:buNone/>
            </a:pPr>
            <a:r>
              <a:rPr lang="en-US" sz="2600" b="1" dirty="0">
                <a:solidFill>
                  <a:srgbClr val="7B8E99"/>
                </a:solidFill>
                <a:latin typeface="Arial" pitchFamily="34" charset="0"/>
                <a:ea typeface="Arial" pitchFamily="34" charset="-122"/>
                <a:cs typeface="Arial" pitchFamily="34" charset="-120"/>
              </a:rPr>
              <a:t>vs 49%</a:t>
            </a:r>
            <a:endParaRPr lang="en-US" sz="2600" dirty="0"/>
          </a:p>
        </p:txBody>
      </p:sp>
      <p:sp>
        <p:nvSpPr>
          <p:cNvPr id="8" name="Text 6"/>
          <p:cNvSpPr txBox="1"/>
          <p:nvPr/>
        </p:nvSpPr>
        <p:spPr>
          <a:xfrm>
            <a:off x="457200" y="2697480"/>
            <a:ext cx="3749040" cy="731520"/>
          </a:xfrm>
          <a:prstGeom prst="rect">
            <a:avLst/>
          </a:prstGeom>
          <a:noFill/>
          <a:ln/>
        </p:spPr>
        <p:txBody>
          <a:bodyPr wrap="square" lIns="0" tIns="0" rIns="0" bIns="0" rtlCol="0" anchor="t"/>
          <a:lstStyle/>
          <a:p>
            <a:pPr indent="0" marL="0">
              <a:buNone/>
            </a:pPr>
            <a:r>
              <a:rPr lang="en-US" sz="1400" dirty="0">
                <a:solidFill>
                  <a:srgbClr val="C9DCE3"/>
                </a:solidFill>
                <a:latin typeface="Calibri" pitchFamily="34" charset="0"/>
                <a:ea typeface="Calibri" pitchFamily="34" charset="-122"/>
                <a:cs typeface="Calibri" pitchFamily="34" charset="-120"/>
              </a:rPr>
              <a:t>of next week's frustrated tickets caught in advance by acting on just the top 5% of devices. ML vs today's rules.</a:t>
            </a:r>
            <a:endParaRPr lang="en-US" sz="1400" dirty="0"/>
          </a:p>
        </p:txBody>
      </p:sp>
      <p:sp>
        <p:nvSpPr>
          <p:cNvPr id="9" name="Text 7"/>
          <p:cNvSpPr txBox="1"/>
          <p:nvPr/>
        </p:nvSpPr>
        <p:spPr>
          <a:xfrm>
            <a:off x="457200" y="3520440"/>
            <a:ext cx="3840480" cy="10058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LightGBM on telemetry trends + experience history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Leakage-safe, out-of-time backtest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Calibrated: 25.6% predicted = 25.6% observed</a:t>
            </a:r>
            <a:endParaRPr lang="en-US" sz="1200" dirty="0"/>
          </a:p>
        </p:txBody>
      </p:sp>
      <p:sp>
        <p:nvSpPr>
          <p:cNvPr id="10" name="Shape 8"/>
          <p:cNvSpPr/>
          <p:nvPr/>
        </p:nvSpPr>
        <p:spPr>
          <a:xfrm>
            <a:off x="4572000" y="1554480"/>
            <a:ext cx="4114800" cy="3108960"/>
          </a:xfrm>
          <a:prstGeom prst="roundRect">
            <a:avLst>
              <a:gd name="adj" fmla="val 2353"/>
            </a:avLst>
          </a:prstGeom>
          <a:solidFill>
            <a:srgbClr val="18384A"/>
          </a:solidFill>
          <a:ln/>
        </p:spPr>
      </p:sp>
      <p:graphicFrame>
        <p:nvGraphicFramePr>
          <p:cNvPr id="11" name="Chart 0" descr=""/>
          <p:cNvGraphicFramePr/>
          <p:nvPr/>
        </p:nvGraphicFramePr>
        <p:xfrm>
          <a:off x="4709160" y="1645920"/>
          <a:ext cx="3840480" cy="292608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57200" y="4754880"/>
            <a:ext cx="6217920" cy="228600"/>
          </a:xfrm>
          <a:prstGeom prst="rect">
            <a:avLst/>
          </a:prstGeom>
          <a:noFill/>
          <a:ln/>
        </p:spPr>
        <p:txBody>
          <a:bodyPr wrap="square" lIns="0" tIns="0" rIns="0" bIns="0" rtlCol="0" anchor="t"/>
          <a:lstStyle/>
          <a:p>
            <a:pPr indent="0" marL="0">
              <a:buNone/>
            </a:pPr>
            <a:r>
              <a:rPr lang="en-US" sz="900" dirty="0">
                <a:solidFill>
                  <a:srgbClr val="7B8E99"/>
                </a:solidFill>
                <a:latin typeface="Calibri" pitchFamily="34" charset="0"/>
                <a:ea typeface="Calibri" pitchFamily="34" charset="-122"/>
                <a:cs typeface="Calibri" pitchFamily="34" charset="-120"/>
              </a:rPr>
              <a:t>Benchmark: 5,000 devices × 26 weeks, seed 7, test weeks 20–25 (reproducible)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B86E0E"/>
                </a:solidFill>
                <a:latin typeface="Arial" pitchFamily="34" charset="0"/>
                <a:ea typeface="Arial" pitchFamily="34" charset="-122"/>
                <a:cs typeface="Arial" pitchFamily="34" charset="-120"/>
              </a:rPr>
              <a:t>MOVE 3 · PREDICT  ·  A REAL FORECAST</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13222C"/>
                </a:solidFill>
                <a:latin typeface="Arial" pitchFamily="34" charset="0"/>
                <a:ea typeface="Arial" pitchFamily="34" charset="-122"/>
                <a:cs typeface="Arial" pitchFamily="34" charset="-120"/>
              </a:rPr>
              <a:t>DEV-2462: the model saw it coming a week before the call</a:t>
            </a:r>
            <a:endParaRPr lang="en-US" sz="2600" dirty="0"/>
          </a:p>
        </p:txBody>
      </p:sp>
      <p:sp>
        <p:nvSpPr>
          <p:cNvPr id="6" name="Shape 4"/>
          <p:cNvSpPr/>
          <p:nvPr/>
        </p:nvSpPr>
        <p:spPr>
          <a:xfrm>
            <a:off x="457200" y="1554480"/>
            <a:ext cx="4846320" cy="3154680"/>
          </a:xfrm>
          <a:prstGeom prst="roundRect">
            <a:avLst>
              <a:gd name="adj" fmla="val 2319"/>
            </a:avLst>
          </a:prstGeom>
          <a:solidFill>
            <a:srgbClr val="EEF5F6"/>
          </a:solidFill>
          <a:ln/>
        </p:spPr>
      </p:sp>
      <p:graphicFrame>
        <p:nvGraphicFramePr>
          <p:cNvPr id="7" name="Chart 0" descr=""/>
          <p:cNvGraphicFramePr/>
          <p:nvPr/>
        </p:nvGraphicFramePr>
        <p:xfrm>
          <a:off x="548640" y="1645920"/>
          <a:ext cx="4663440" cy="29718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577840" y="1572768"/>
            <a:ext cx="566928" cy="310896"/>
          </a:xfrm>
          <a:prstGeom prst="roundRect">
            <a:avLst>
              <a:gd name="adj" fmla="val 17647"/>
            </a:avLst>
          </a:prstGeom>
          <a:solidFill>
            <a:srgbClr val="B86E0E"/>
          </a:solidFill>
          <a:ln/>
        </p:spPr>
      </p:sp>
      <p:sp>
        <p:nvSpPr>
          <p:cNvPr id="9" name="Text 6"/>
          <p:cNvSpPr txBox="1"/>
          <p:nvPr/>
        </p:nvSpPr>
        <p:spPr>
          <a:xfrm>
            <a:off x="5577840" y="1572768"/>
            <a:ext cx="566928"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W25</a:t>
            </a:r>
            <a:endParaRPr lang="en-US" sz="1000" dirty="0"/>
          </a:p>
        </p:txBody>
      </p:sp>
      <p:sp>
        <p:nvSpPr>
          <p:cNvPr id="10" name="Text 7"/>
          <p:cNvSpPr txBox="1"/>
          <p:nvPr/>
        </p:nvSpPr>
        <p:spPr>
          <a:xfrm>
            <a:off x="6263640" y="1554480"/>
            <a:ext cx="2423160" cy="365760"/>
          </a:xfrm>
          <a:prstGeom prst="rect">
            <a:avLst/>
          </a:prstGeom>
          <a:noFill/>
          <a:ln/>
        </p:spPr>
        <p:txBody>
          <a:bodyPr wrap="square" lIns="0" tIns="0" rIns="0" bIns="0" rtlCol="0" anchor="t"/>
          <a:lstStyle/>
          <a:p>
            <a:pPr indent="0" marL="0">
              <a:buNone/>
            </a:pPr>
            <a:r>
              <a:rPr lang="en-US" sz="1300" b="1" dirty="0">
                <a:solidFill>
                  <a:srgbClr val="13222C"/>
                </a:solidFill>
                <a:latin typeface="Calibri" pitchFamily="34" charset="0"/>
                <a:ea typeface="Calibri" pitchFamily="34" charset="-122"/>
                <a:cs typeface="Calibri" pitchFamily="34" charset="-120"/>
              </a:rPr>
              <a:t>Model flags 38.6% risk (Elevated)</a:t>
            </a:r>
            <a:endParaRPr lang="en-US" sz="1300" dirty="0"/>
          </a:p>
        </p:txBody>
      </p:sp>
      <p:sp>
        <p:nvSpPr>
          <p:cNvPr id="11" name="Text 8"/>
          <p:cNvSpPr txBox="1"/>
          <p:nvPr/>
        </p:nvSpPr>
        <p:spPr>
          <a:xfrm>
            <a:off x="6263640" y="1920240"/>
            <a:ext cx="2423160" cy="566928"/>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Boot +42 s in 2 weeks, breached 2 of the last 4</a:t>
            </a:r>
            <a:endParaRPr lang="en-US" sz="1100" dirty="0"/>
          </a:p>
        </p:txBody>
      </p:sp>
      <p:sp>
        <p:nvSpPr>
          <p:cNvPr id="12" name="Shape 9"/>
          <p:cNvSpPr/>
          <p:nvPr/>
        </p:nvSpPr>
        <p:spPr>
          <a:xfrm>
            <a:off x="5577840" y="2624328"/>
            <a:ext cx="566928" cy="310896"/>
          </a:xfrm>
          <a:prstGeom prst="roundRect">
            <a:avLst>
              <a:gd name="adj" fmla="val 17647"/>
            </a:avLst>
          </a:prstGeom>
          <a:solidFill>
            <a:srgbClr val="E4574B"/>
          </a:solidFill>
          <a:ln/>
        </p:spPr>
      </p:sp>
      <p:sp>
        <p:nvSpPr>
          <p:cNvPr id="13" name="Text 10"/>
          <p:cNvSpPr txBox="1"/>
          <p:nvPr/>
        </p:nvSpPr>
        <p:spPr>
          <a:xfrm>
            <a:off x="5577840" y="2624328"/>
            <a:ext cx="566928"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W26</a:t>
            </a:r>
            <a:endParaRPr lang="en-US" sz="1000" dirty="0"/>
          </a:p>
        </p:txBody>
      </p:sp>
      <p:sp>
        <p:nvSpPr>
          <p:cNvPr id="14" name="Text 11"/>
          <p:cNvSpPr txBox="1"/>
          <p:nvPr/>
        </p:nvSpPr>
        <p:spPr>
          <a:xfrm>
            <a:off x="6263640" y="2606040"/>
            <a:ext cx="2423160" cy="365760"/>
          </a:xfrm>
          <a:prstGeom prst="rect">
            <a:avLst/>
          </a:prstGeom>
          <a:noFill/>
          <a:ln/>
        </p:spPr>
        <p:txBody>
          <a:bodyPr wrap="square" lIns="0" tIns="0" rIns="0" bIns="0" rtlCol="0" anchor="t"/>
          <a:lstStyle/>
          <a:p>
            <a:pPr indent="0" marL="0">
              <a:buNone/>
            </a:pPr>
            <a:r>
              <a:rPr lang="en-US" sz="1300" b="1" dirty="0">
                <a:solidFill>
                  <a:srgbClr val="13222C"/>
                </a:solidFill>
                <a:latin typeface="Calibri" pitchFamily="34" charset="0"/>
                <a:ea typeface="Calibri" pitchFamily="34" charset="-122"/>
                <a:cs typeface="Calibri" pitchFamily="34" charset="-120"/>
              </a:rPr>
              <a:t>The call arrives</a:t>
            </a:r>
            <a:endParaRPr lang="en-US" sz="1300" dirty="0"/>
          </a:p>
        </p:txBody>
      </p:sp>
      <p:sp>
        <p:nvSpPr>
          <p:cNvPr id="15" name="Text 12"/>
          <p:cNvSpPr txBox="1"/>
          <p:nvPr/>
        </p:nvSpPr>
        <p:spPr>
          <a:xfrm>
            <a:off x="6263640" y="2971800"/>
            <a:ext cx="2423160" cy="566928"/>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“This is urgent - I'm losing hours to this every week.” Frustration 78</a:t>
            </a:r>
            <a:endParaRPr lang="en-US" sz="1100" dirty="0"/>
          </a:p>
        </p:txBody>
      </p:sp>
      <p:sp>
        <p:nvSpPr>
          <p:cNvPr id="16" name="Shape 13"/>
          <p:cNvSpPr/>
          <p:nvPr/>
        </p:nvSpPr>
        <p:spPr>
          <a:xfrm>
            <a:off x="5577840" y="3675888"/>
            <a:ext cx="566928" cy="310896"/>
          </a:xfrm>
          <a:prstGeom prst="roundRect">
            <a:avLst>
              <a:gd name="adj" fmla="val 17647"/>
            </a:avLst>
          </a:prstGeom>
          <a:solidFill>
            <a:srgbClr val="0B7A73"/>
          </a:solidFill>
          <a:ln/>
        </p:spPr>
      </p:sp>
      <p:sp>
        <p:nvSpPr>
          <p:cNvPr id="17" name="Text 14"/>
          <p:cNvSpPr txBox="1"/>
          <p:nvPr/>
        </p:nvSpPr>
        <p:spPr>
          <a:xfrm>
            <a:off x="5577840" y="3675888"/>
            <a:ext cx="566928"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FIX</a:t>
            </a:r>
            <a:endParaRPr lang="en-US" sz="1000" dirty="0"/>
          </a:p>
        </p:txBody>
      </p:sp>
      <p:sp>
        <p:nvSpPr>
          <p:cNvPr id="18" name="Text 15"/>
          <p:cNvSpPr txBox="1"/>
          <p:nvPr/>
        </p:nvSpPr>
        <p:spPr>
          <a:xfrm>
            <a:off x="6263640" y="3657600"/>
            <a:ext cx="2423160" cy="365760"/>
          </a:xfrm>
          <a:prstGeom prst="rect">
            <a:avLst/>
          </a:prstGeom>
          <a:noFill/>
          <a:ln/>
        </p:spPr>
        <p:txBody>
          <a:bodyPr wrap="square" lIns="0" tIns="0" rIns="0" bIns="0" rtlCol="0" anchor="t"/>
          <a:lstStyle/>
          <a:p>
            <a:pPr indent="0" marL="0">
              <a:buNone/>
            </a:pPr>
            <a:r>
              <a:rPr lang="en-US" sz="1300" b="1" dirty="0">
                <a:solidFill>
                  <a:srgbClr val="13222C"/>
                </a:solidFill>
                <a:latin typeface="Calibri" pitchFamily="34" charset="0"/>
                <a:ea typeface="Calibri" pitchFamily="34" charset="-122"/>
                <a:cs typeface="Calibri" pitchFamily="34" charset="-120"/>
              </a:rPr>
              <a:t>Reimage device (KB-PERF-001)</a:t>
            </a:r>
            <a:endParaRPr lang="en-US" sz="1300" dirty="0"/>
          </a:p>
        </p:txBody>
      </p:sp>
      <p:sp>
        <p:nvSpPr>
          <p:cNvPr id="19" name="Text 16"/>
          <p:cNvSpPr txBox="1"/>
          <p:nvPr/>
        </p:nvSpPr>
        <p:spPr>
          <a:xfrm>
            <a:off x="6263640" y="4023360"/>
            <a:ext cx="2423160" cy="566928"/>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0.41 frustrated tickets avoided ≈ $104 this week, for one laptop</a:t>
            </a:r>
            <a:endParaRPr lang="en-US" sz="1100" dirty="0"/>
          </a:p>
        </p:txBody>
      </p:sp>
      <p:sp>
        <p:nvSpPr>
          <p:cNvPr id="20" name="Shape 17"/>
          <p:cNvSpPr/>
          <p:nvPr/>
        </p:nvSpPr>
        <p:spPr>
          <a:xfrm>
            <a:off x="7635240" y="329184"/>
            <a:ext cx="1051560" cy="256032"/>
          </a:xfrm>
          <a:prstGeom prst="roundRect">
            <a:avLst>
              <a:gd name="adj" fmla="val 21429"/>
            </a:avLst>
          </a:prstGeom>
          <a:solidFill>
            <a:srgbClr val="E4574B"/>
          </a:solidFill>
          <a:ln/>
        </p:spPr>
      </p:sp>
      <p:sp>
        <p:nvSpPr>
          <p:cNvPr id="21" name="Text 18"/>
          <p:cNvSpPr txBox="1"/>
          <p:nvPr/>
        </p:nvSpPr>
        <p:spPr>
          <a:xfrm>
            <a:off x="7635240" y="329184"/>
            <a:ext cx="1051560" cy="256032"/>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LIVE DEMO</a:t>
            </a:r>
            <a:endParaRPr lang="en-US" sz="900" dirty="0"/>
          </a:p>
        </p:txBody>
      </p:sp>
      <p:sp>
        <p:nvSpPr>
          <p:cNvPr id="22" name="Text 19"/>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8 / 15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B86E0E"/>
                </a:solidFill>
                <a:latin typeface="Arial" pitchFamily="34" charset="0"/>
                <a:ea typeface="Arial" pitchFamily="34" charset="-122"/>
                <a:cs typeface="Arial" pitchFamily="34" charset="-120"/>
              </a:rPr>
              <a:t>MOVE 4 · PROVE</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13222C"/>
                </a:solidFill>
                <a:latin typeface="Arial" pitchFamily="34" charset="0"/>
                <a:ea typeface="Arial" pitchFamily="34" charset="-122"/>
                <a:cs typeface="Arial" pitchFamily="34" charset="-120"/>
              </a:rPr>
              <a:t>We don't close tickets. We close the experience gap</a:t>
            </a:r>
            <a:endParaRPr lang="en-US" sz="2600" dirty="0"/>
          </a:p>
        </p:txBody>
      </p:sp>
      <p:sp>
        <p:nvSpPr>
          <p:cNvPr id="6" name="Shape 4"/>
          <p:cNvSpPr/>
          <p:nvPr/>
        </p:nvSpPr>
        <p:spPr>
          <a:xfrm>
            <a:off x="457200" y="1572768"/>
            <a:ext cx="2331720" cy="1325880"/>
          </a:xfrm>
          <a:prstGeom prst="roundRect">
            <a:avLst>
              <a:gd name="adj" fmla="val 5517"/>
            </a:avLst>
          </a:prstGeom>
          <a:solidFill>
            <a:srgbClr val="EEF5F6"/>
          </a:solidFill>
          <a:ln/>
        </p:spPr>
      </p:sp>
      <p:sp>
        <p:nvSpPr>
          <p:cNvPr id="7" name="Text 5"/>
          <p:cNvSpPr txBox="1"/>
          <p:nvPr/>
        </p:nvSpPr>
        <p:spPr>
          <a:xfrm>
            <a:off x="640080" y="1709928"/>
            <a:ext cx="2011680" cy="228600"/>
          </a:xfrm>
          <a:prstGeom prst="rect">
            <a:avLst/>
          </a:prstGeom>
          <a:noFill/>
          <a:ln/>
        </p:spPr>
        <p:txBody>
          <a:bodyPr wrap="square" lIns="0" tIns="0" rIns="0" bIns="0" rtlCol="0" anchor="t"/>
          <a:lstStyle/>
          <a:p>
            <a:pPr indent="0" marL="0">
              <a:buNone/>
            </a:pPr>
            <a:r>
              <a:rPr lang="en-US" sz="950" b="1" spc="200" kern="0" dirty="0">
                <a:solidFill>
                  <a:srgbClr val="7B8E99"/>
                </a:solidFill>
                <a:latin typeface="Arial" pitchFamily="34" charset="0"/>
                <a:ea typeface="Arial" pitchFamily="34" charset="-122"/>
                <a:cs typeface="Arial" pitchFamily="34" charset="-120"/>
              </a:rPr>
              <a:t>REPEAT CONTACTS</a:t>
            </a:r>
            <a:endParaRPr lang="en-US" sz="950" dirty="0"/>
          </a:p>
        </p:txBody>
      </p:sp>
      <p:sp>
        <p:nvSpPr>
          <p:cNvPr id="8" name="Text 6"/>
          <p:cNvSpPr txBox="1"/>
          <p:nvPr/>
        </p:nvSpPr>
        <p:spPr>
          <a:xfrm>
            <a:off x="640080" y="2011680"/>
            <a:ext cx="2103120" cy="548640"/>
          </a:xfrm>
          <a:prstGeom prst="rect">
            <a:avLst/>
          </a:prstGeom>
          <a:noFill/>
          <a:ln/>
        </p:spPr>
        <p:txBody>
          <a:bodyPr wrap="square" lIns="0" tIns="0" rIns="0" bIns="0" rtlCol="0" anchor="t"/>
          <a:lstStyle/>
          <a:p>
            <a:pPr indent="0" marL="0">
              <a:buNone/>
            </a:pPr>
            <a:r>
              <a:rPr lang="en-US" sz="2100" b="1" dirty="0">
                <a:solidFill>
                  <a:srgbClr val="7B8E99"/>
                </a:solidFill>
                <a:latin typeface="Arial" pitchFamily="34" charset="0"/>
                <a:ea typeface="Arial" pitchFamily="34" charset="-122"/>
                <a:cs typeface="Arial" pitchFamily="34" charset="-120"/>
              </a:rPr>
              <a:t>46.8%</a:t>
            </a:r>
            <a:pPr indent="0" marL="0">
              <a:buNone/>
            </a:pPr>
            <a:r>
              <a:rPr lang="en-US" sz="2100" b="1" dirty="0">
                <a:solidFill>
                  <a:srgbClr val="7B8E99"/>
                </a:solidFill>
                <a:latin typeface="Arial" pitchFamily="34" charset="0"/>
                <a:ea typeface="Arial" pitchFamily="34" charset="-122"/>
                <a:cs typeface="Arial" pitchFamily="34" charset="-120"/>
              </a:rPr>
              <a:t> → </a:t>
            </a:r>
            <a:pPr indent="0" marL="0">
              <a:buNone/>
            </a:pPr>
            <a:r>
              <a:rPr lang="en-US" sz="2100" b="1" dirty="0">
                <a:solidFill>
                  <a:srgbClr val="0B7A73"/>
                </a:solidFill>
                <a:latin typeface="Arial" pitchFamily="34" charset="0"/>
                <a:ea typeface="Arial" pitchFamily="34" charset="-122"/>
                <a:cs typeface="Arial" pitchFamily="34" charset="-120"/>
              </a:rPr>
              <a:t>0.7%</a:t>
            </a:r>
            <a:endParaRPr lang="en-US" sz="2100" dirty="0"/>
          </a:p>
        </p:txBody>
      </p:sp>
      <p:sp>
        <p:nvSpPr>
          <p:cNvPr id="9" name="Text 7"/>
          <p:cNvSpPr txBox="1"/>
          <p:nvPr/>
        </p:nvSpPr>
        <p:spPr>
          <a:xfrm>
            <a:off x="640080" y="2560320"/>
            <a:ext cx="2011680" cy="228600"/>
          </a:xfrm>
          <a:prstGeom prst="rect">
            <a:avLst/>
          </a:prstGeom>
          <a:noFill/>
          <a:ln/>
        </p:spPr>
        <p:txBody>
          <a:bodyPr wrap="square" lIns="0" tIns="0" rIns="0" bIns="0" rtlCol="0" anchor="t"/>
          <a:lstStyle/>
          <a:p>
            <a:pPr indent="0" marL="0">
              <a:buNone/>
            </a:pPr>
            <a:r>
              <a:rPr lang="en-US" sz="950" dirty="0">
                <a:solidFill>
                  <a:srgbClr val="7B8E99"/>
                </a:solidFill>
                <a:latin typeface="Calibri" pitchFamily="34" charset="0"/>
                <a:ea typeface="Calibri" pitchFamily="34" charset="-122"/>
                <a:cs typeface="Calibri" pitchFamily="34" charset="-120"/>
              </a:rPr>
              <a:t>before → after the fix</a:t>
            </a:r>
            <a:endParaRPr lang="en-US" sz="950" dirty="0"/>
          </a:p>
        </p:txBody>
      </p:sp>
      <p:sp>
        <p:nvSpPr>
          <p:cNvPr id="10" name="Shape 8"/>
          <p:cNvSpPr/>
          <p:nvPr/>
        </p:nvSpPr>
        <p:spPr>
          <a:xfrm>
            <a:off x="2971800" y="1572768"/>
            <a:ext cx="2331720" cy="1325880"/>
          </a:xfrm>
          <a:prstGeom prst="roundRect">
            <a:avLst>
              <a:gd name="adj" fmla="val 5517"/>
            </a:avLst>
          </a:prstGeom>
          <a:solidFill>
            <a:srgbClr val="EEF5F6"/>
          </a:solidFill>
          <a:ln/>
        </p:spPr>
      </p:sp>
      <p:sp>
        <p:nvSpPr>
          <p:cNvPr id="11" name="Text 9"/>
          <p:cNvSpPr txBox="1"/>
          <p:nvPr/>
        </p:nvSpPr>
        <p:spPr>
          <a:xfrm>
            <a:off x="3154680" y="1709928"/>
            <a:ext cx="2011680" cy="228600"/>
          </a:xfrm>
          <a:prstGeom prst="rect">
            <a:avLst/>
          </a:prstGeom>
          <a:noFill/>
          <a:ln/>
        </p:spPr>
        <p:txBody>
          <a:bodyPr wrap="square" lIns="0" tIns="0" rIns="0" bIns="0" rtlCol="0" anchor="t"/>
          <a:lstStyle/>
          <a:p>
            <a:pPr indent="0" marL="0">
              <a:buNone/>
            </a:pPr>
            <a:r>
              <a:rPr lang="en-US" sz="950" b="1" spc="200" kern="0" dirty="0">
                <a:solidFill>
                  <a:srgbClr val="7B8E99"/>
                </a:solidFill>
                <a:latin typeface="Arial" pitchFamily="34" charset="0"/>
                <a:ea typeface="Arial" pitchFamily="34" charset="-122"/>
                <a:cs typeface="Arial" pitchFamily="34" charset="-120"/>
              </a:rPr>
              <a:t>TICKETS / WEEK</a:t>
            </a:r>
            <a:endParaRPr lang="en-US" sz="950" dirty="0"/>
          </a:p>
        </p:txBody>
      </p:sp>
      <p:sp>
        <p:nvSpPr>
          <p:cNvPr id="12" name="Text 10"/>
          <p:cNvSpPr txBox="1"/>
          <p:nvPr/>
        </p:nvSpPr>
        <p:spPr>
          <a:xfrm>
            <a:off x="3154680" y="2011680"/>
            <a:ext cx="2103120" cy="548640"/>
          </a:xfrm>
          <a:prstGeom prst="rect">
            <a:avLst/>
          </a:prstGeom>
          <a:noFill/>
          <a:ln/>
        </p:spPr>
        <p:txBody>
          <a:bodyPr wrap="square" lIns="0" tIns="0" rIns="0" bIns="0" rtlCol="0" anchor="t"/>
          <a:lstStyle/>
          <a:p>
            <a:pPr indent="0" marL="0">
              <a:buNone/>
            </a:pPr>
            <a:r>
              <a:rPr lang="en-US" sz="2100" b="1" dirty="0">
                <a:solidFill>
                  <a:srgbClr val="7B8E99"/>
                </a:solidFill>
                <a:latin typeface="Arial" pitchFamily="34" charset="0"/>
                <a:ea typeface="Arial" pitchFamily="34" charset="-122"/>
                <a:cs typeface="Arial" pitchFamily="34" charset="-120"/>
              </a:rPr>
              <a:t>0.41</a:t>
            </a:r>
            <a:pPr indent="0" marL="0">
              <a:buNone/>
            </a:pPr>
            <a:r>
              <a:rPr lang="en-US" sz="2100" b="1" dirty="0">
                <a:solidFill>
                  <a:srgbClr val="7B8E99"/>
                </a:solidFill>
                <a:latin typeface="Arial" pitchFamily="34" charset="0"/>
                <a:ea typeface="Arial" pitchFamily="34" charset="-122"/>
                <a:cs typeface="Arial" pitchFamily="34" charset="-120"/>
              </a:rPr>
              <a:t> → </a:t>
            </a:r>
            <a:pPr indent="0" marL="0">
              <a:buNone/>
            </a:pPr>
            <a:r>
              <a:rPr lang="en-US" sz="2100" b="1" dirty="0">
                <a:solidFill>
                  <a:srgbClr val="0B7A73"/>
                </a:solidFill>
                <a:latin typeface="Arial" pitchFamily="34" charset="0"/>
                <a:ea typeface="Arial" pitchFamily="34" charset="-122"/>
                <a:cs typeface="Arial" pitchFamily="34" charset="-120"/>
              </a:rPr>
              <a:t>0.15</a:t>
            </a:r>
            <a:endParaRPr lang="en-US" sz="2100" dirty="0"/>
          </a:p>
        </p:txBody>
      </p:sp>
      <p:sp>
        <p:nvSpPr>
          <p:cNvPr id="13" name="Text 11"/>
          <p:cNvSpPr txBox="1"/>
          <p:nvPr/>
        </p:nvSpPr>
        <p:spPr>
          <a:xfrm>
            <a:off x="3154680" y="2560320"/>
            <a:ext cx="2011680" cy="228600"/>
          </a:xfrm>
          <a:prstGeom prst="rect">
            <a:avLst/>
          </a:prstGeom>
          <a:noFill/>
          <a:ln/>
        </p:spPr>
        <p:txBody>
          <a:bodyPr wrap="square" lIns="0" tIns="0" rIns="0" bIns="0" rtlCol="0" anchor="t"/>
          <a:lstStyle/>
          <a:p>
            <a:pPr indent="0" marL="0">
              <a:buNone/>
            </a:pPr>
            <a:r>
              <a:rPr lang="en-US" sz="950" dirty="0">
                <a:solidFill>
                  <a:srgbClr val="7B8E99"/>
                </a:solidFill>
                <a:latin typeface="Calibri" pitchFamily="34" charset="0"/>
                <a:ea typeface="Calibri" pitchFamily="34" charset="-122"/>
                <a:cs typeface="Calibri" pitchFamily="34" charset="-120"/>
              </a:rPr>
              <a:t>before → after the fix</a:t>
            </a:r>
            <a:endParaRPr lang="en-US" sz="950" dirty="0"/>
          </a:p>
        </p:txBody>
      </p:sp>
      <p:sp>
        <p:nvSpPr>
          <p:cNvPr id="14" name="Shape 12"/>
          <p:cNvSpPr/>
          <p:nvPr/>
        </p:nvSpPr>
        <p:spPr>
          <a:xfrm>
            <a:off x="457200" y="3054096"/>
            <a:ext cx="2331720" cy="1325880"/>
          </a:xfrm>
          <a:prstGeom prst="roundRect">
            <a:avLst>
              <a:gd name="adj" fmla="val 5517"/>
            </a:avLst>
          </a:prstGeom>
          <a:solidFill>
            <a:srgbClr val="EEF5F6"/>
          </a:solidFill>
          <a:ln/>
        </p:spPr>
      </p:sp>
      <p:sp>
        <p:nvSpPr>
          <p:cNvPr id="15" name="Text 13"/>
          <p:cNvSpPr txBox="1"/>
          <p:nvPr/>
        </p:nvSpPr>
        <p:spPr>
          <a:xfrm>
            <a:off x="640080" y="3191256"/>
            <a:ext cx="2011680" cy="228600"/>
          </a:xfrm>
          <a:prstGeom prst="rect">
            <a:avLst/>
          </a:prstGeom>
          <a:noFill/>
          <a:ln/>
        </p:spPr>
        <p:txBody>
          <a:bodyPr wrap="square" lIns="0" tIns="0" rIns="0" bIns="0" rtlCol="0" anchor="t"/>
          <a:lstStyle/>
          <a:p>
            <a:pPr indent="0" marL="0">
              <a:buNone/>
            </a:pPr>
            <a:r>
              <a:rPr lang="en-US" sz="950" b="1" spc="200" kern="0" dirty="0">
                <a:solidFill>
                  <a:srgbClr val="7B8E99"/>
                </a:solidFill>
                <a:latin typeface="Arial" pitchFamily="34" charset="0"/>
                <a:ea typeface="Arial" pitchFamily="34" charset="-122"/>
                <a:cs typeface="Arial" pitchFamily="34" charset="-120"/>
              </a:rPr>
              <a:t>DEX SCORE</a:t>
            </a:r>
            <a:endParaRPr lang="en-US" sz="950" dirty="0"/>
          </a:p>
        </p:txBody>
      </p:sp>
      <p:sp>
        <p:nvSpPr>
          <p:cNvPr id="16" name="Text 14"/>
          <p:cNvSpPr txBox="1"/>
          <p:nvPr/>
        </p:nvSpPr>
        <p:spPr>
          <a:xfrm>
            <a:off x="640080" y="3493008"/>
            <a:ext cx="2103120" cy="548640"/>
          </a:xfrm>
          <a:prstGeom prst="rect">
            <a:avLst/>
          </a:prstGeom>
          <a:noFill/>
          <a:ln/>
        </p:spPr>
        <p:txBody>
          <a:bodyPr wrap="square" lIns="0" tIns="0" rIns="0" bIns="0" rtlCol="0" anchor="t"/>
          <a:lstStyle/>
          <a:p>
            <a:pPr indent="0" marL="0">
              <a:buNone/>
            </a:pPr>
            <a:r>
              <a:rPr lang="en-US" sz="2100" b="1" dirty="0">
                <a:solidFill>
                  <a:srgbClr val="7B8E99"/>
                </a:solidFill>
                <a:latin typeface="Arial" pitchFamily="34" charset="0"/>
                <a:ea typeface="Arial" pitchFamily="34" charset="-122"/>
                <a:cs typeface="Arial" pitchFamily="34" charset="-120"/>
              </a:rPr>
              <a:t>64.0</a:t>
            </a:r>
            <a:pPr indent="0" marL="0">
              <a:buNone/>
            </a:pPr>
            <a:r>
              <a:rPr lang="en-US" sz="2100" b="1" dirty="0">
                <a:solidFill>
                  <a:srgbClr val="7B8E99"/>
                </a:solidFill>
                <a:latin typeface="Arial" pitchFamily="34" charset="0"/>
                <a:ea typeface="Arial" pitchFamily="34" charset="-122"/>
                <a:cs typeface="Arial" pitchFamily="34" charset="-120"/>
              </a:rPr>
              <a:t> → </a:t>
            </a:r>
            <a:pPr indent="0" marL="0">
              <a:buNone/>
            </a:pPr>
            <a:r>
              <a:rPr lang="en-US" sz="2100" b="1" dirty="0">
                <a:solidFill>
                  <a:srgbClr val="0B7A73"/>
                </a:solidFill>
                <a:latin typeface="Arial" pitchFamily="34" charset="0"/>
                <a:ea typeface="Arial" pitchFamily="34" charset="-122"/>
                <a:cs typeface="Arial" pitchFamily="34" charset="-120"/>
              </a:rPr>
              <a:t>87.6</a:t>
            </a:r>
            <a:endParaRPr lang="en-US" sz="2100" dirty="0"/>
          </a:p>
        </p:txBody>
      </p:sp>
      <p:sp>
        <p:nvSpPr>
          <p:cNvPr id="17" name="Text 15"/>
          <p:cNvSpPr txBox="1"/>
          <p:nvPr/>
        </p:nvSpPr>
        <p:spPr>
          <a:xfrm>
            <a:off x="640080" y="4041648"/>
            <a:ext cx="2011680" cy="228600"/>
          </a:xfrm>
          <a:prstGeom prst="rect">
            <a:avLst/>
          </a:prstGeom>
          <a:noFill/>
          <a:ln/>
        </p:spPr>
        <p:txBody>
          <a:bodyPr wrap="square" lIns="0" tIns="0" rIns="0" bIns="0" rtlCol="0" anchor="t"/>
          <a:lstStyle/>
          <a:p>
            <a:pPr indent="0" marL="0">
              <a:buNone/>
            </a:pPr>
            <a:r>
              <a:rPr lang="en-US" sz="950" dirty="0">
                <a:solidFill>
                  <a:srgbClr val="7B8E99"/>
                </a:solidFill>
                <a:latin typeface="Calibri" pitchFamily="34" charset="0"/>
                <a:ea typeface="Calibri" pitchFamily="34" charset="-122"/>
                <a:cs typeface="Calibri" pitchFamily="34" charset="-120"/>
              </a:rPr>
              <a:t>before → after the fix</a:t>
            </a:r>
            <a:endParaRPr lang="en-US" sz="950" dirty="0"/>
          </a:p>
        </p:txBody>
      </p:sp>
      <p:sp>
        <p:nvSpPr>
          <p:cNvPr id="18" name="Shape 16"/>
          <p:cNvSpPr/>
          <p:nvPr/>
        </p:nvSpPr>
        <p:spPr>
          <a:xfrm>
            <a:off x="2971800" y="3054096"/>
            <a:ext cx="2331720" cy="1325880"/>
          </a:xfrm>
          <a:prstGeom prst="roundRect">
            <a:avLst>
              <a:gd name="adj" fmla="val 5517"/>
            </a:avLst>
          </a:prstGeom>
          <a:solidFill>
            <a:srgbClr val="EEF5F6"/>
          </a:solidFill>
          <a:ln/>
        </p:spPr>
      </p:sp>
      <p:sp>
        <p:nvSpPr>
          <p:cNvPr id="19" name="Text 17"/>
          <p:cNvSpPr txBox="1"/>
          <p:nvPr/>
        </p:nvSpPr>
        <p:spPr>
          <a:xfrm>
            <a:off x="3154680" y="3191256"/>
            <a:ext cx="2011680" cy="228600"/>
          </a:xfrm>
          <a:prstGeom prst="rect">
            <a:avLst/>
          </a:prstGeom>
          <a:noFill/>
          <a:ln/>
        </p:spPr>
        <p:txBody>
          <a:bodyPr wrap="square" lIns="0" tIns="0" rIns="0" bIns="0" rtlCol="0" anchor="t"/>
          <a:lstStyle/>
          <a:p>
            <a:pPr indent="0" marL="0">
              <a:buNone/>
            </a:pPr>
            <a:r>
              <a:rPr lang="en-US" sz="950" b="1" spc="200" kern="0" dirty="0">
                <a:solidFill>
                  <a:srgbClr val="7B8E99"/>
                </a:solidFill>
                <a:latin typeface="Arial" pitchFamily="34" charset="0"/>
                <a:ea typeface="Arial" pitchFamily="34" charset="-122"/>
                <a:cs typeface="Arial" pitchFamily="34" charset="-120"/>
              </a:rPr>
              <a:t>FRUSTRATION</a:t>
            </a:r>
            <a:endParaRPr lang="en-US" sz="950" dirty="0"/>
          </a:p>
        </p:txBody>
      </p:sp>
      <p:sp>
        <p:nvSpPr>
          <p:cNvPr id="20" name="Text 18"/>
          <p:cNvSpPr txBox="1"/>
          <p:nvPr/>
        </p:nvSpPr>
        <p:spPr>
          <a:xfrm>
            <a:off x="3154680" y="3493008"/>
            <a:ext cx="2103120" cy="548640"/>
          </a:xfrm>
          <a:prstGeom prst="rect">
            <a:avLst/>
          </a:prstGeom>
          <a:noFill/>
          <a:ln/>
        </p:spPr>
        <p:txBody>
          <a:bodyPr wrap="square" lIns="0" tIns="0" rIns="0" bIns="0" rtlCol="0" anchor="t"/>
          <a:lstStyle/>
          <a:p>
            <a:pPr indent="0" marL="0">
              <a:buNone/>
            </a:pPr>
            <a:r>
              <a:rPr lang="en-US" sz="2100" b="1" dirty="0">
                <a:solidFill>
                  <a:srgbClr val="7B8E99"/>
                </a:solidFill>
                <a:latin typeface="Arial" pitchFamily="34" charset="0"/>
                <a:ea typeface="Arial" pitchFamily="34" charset="-122"/>
                <a:cs typeface="Arial" pitchFamily="34" charset="-120"/>
              </a:rPr>
              <a:t>69.0</a:t>
            </a:r>
            <a:pPr indent="0" marL="0">
              <a:buNone/>
            </a:pPr>
            <a:r>
              <a:rPr lang="en-US" sz="2100" b="1" dirty="0">
                <a:solidFill>
                  <a:srgbClr val="7B8E99"/>
                </a:solidFill>
                <a:latin typeface="Arial" pitchFamily="34" charset="0"/>
                <a:ea typeface="Arial" pitchFamily="34" charset="-122"/>
                <a:cs typeface="Arial" pitchFamily="34" charset="-120"/>
              </a:rPr>
              <a:t> → </a:t>
            </a:r>
            <a:pPr indent="0" marL="0">
              <a:buNone/>
            </a:pPr>
            <a:r>
              <a:rPr lang="en-US" sz="2100" b="1" dirty="0">
                <a:solidFill>
                  <a:srgbClr val="0B7A73"/>
                </a:solidFill>
                <a:latin typeface="Arial" pitchFamily="34" charset="0"/>
                <a:ea typeface="Arial" pitchFamily="34" charset="-122"/>
                <a:cs typeface="Arial" pitchFamily="34" charset="-120"/>
              </a:rPr>
              <a:t>58.2</a:t>
            </a:r>
            <a:endParaRPr lang="en-US" sz="2100" dirty="0"/>
          </a:p>
        </p:txBody>
      </p:sp>
      <p:sp>
        <p:nvSpPr>
          <p:cNvPr id="21" name="Text 19"/>
          <p:cNvSpPr txBox="1"/>
          <p:nvPr/>
        </p:nvSpPr>
        <p:spPr>
          <a:xfrm>
            <a:off x="3154680" y="4041648"/>
            <a:ext cx="2011680" cy="228600"/>
          </a:xfrm>
          <a:prstGeom prst="rect">
            <a:avLst/>
          </a:prstGeom>
          <a:noFill/>
          <a:ln/>
        </p:spPr>
        <p:txBody>
          <a:bodyPr wrap="square" lIns="0" tIns="0" rIns="0" bIns="0" rtlCol="0" anchor="t"/>
          <a:lstStyle/>
          <a:p>
            <a:pPr indent="0" marL="0">
              <a:buNone/>
            </a:pPr>
            <a:r>
              <a:rPr lang="en-US" sz="950" dirty="0">
                <a:solidFill>
                  <a:srgbClr val="7B8E99"/>
                </a:solidFill>
                <a:latin typeface="Calibri" pitchFamily="34" charset="0"/>
                <a:ea typeface="Calibri" pitchFamily="34" charset="-122"/>
                <a:cs typeface="Calibri" pitchFamily="34" charset="-120"/>
              </a:rPr>
              <a:t>before → after the fix</a:t>
            </a:r>
            <a:endParaRPr lang="en-US" sz="950" dirty="0"/>
          </a:p>
        </p:txBody>
      </p:sp>
      <p:sp>
        <p:nvSpPr>
          <p:cNvPr id="22" name="Shape 20"/>
          <p:cNvSpPr/>
          <p:nvPr/>
        </p:nvSpPr>
        <p:spPr>
          <a:xfrm>
            <a:off x="5577840" y="1572768"/>
            <a:ext cx="3108960" cy="2807208"/>
          </a:xfrm>
          <a:prstGeom prst="roundRect">
            <a:avLst>
              <a:gd name="adj" fmla="val 2606"/>
            </a:avLst>
          </a:prstGeom>
          <a:solidFill>
            <a:srgbClr val="0F2330"/>
          </a:solidFill>
          <a:ln/>
        </p:spPr>
      </p:sp>
      <p:sp>
        <p:nvSpPr>
          <p:cNvPr id="23" name="Text 21"/>
          <p:cNvSpPr txBox="1"/>
          <p:nvPr/>
        </p:nvSpPr>
        <p:spPr>
          <a:xfrm>
            <a:off x="5760720" y="1783080"/>
            <a:ext cx="2834640" cy="640080"/>
          </a:xfrm>
          <a:prstGeom prst="rect">
            <a:avLst/>
          </a:prstGeom>
          <a:noFill/>
          <a:ln/>
        </p:spPr>
        <p:txBody>
          <a:bodyPr wrap="square" lIns="0" tIns="0" rIns="0" bIns="0" rtlCol="0" anchor="t"/>
          <a:lstStyle/>
          <a:p>
            <a:pPr indent="0" marL="0">
              <a:buNone/>
            </a:pPr>
            <a:r>
              <a:rPr lang="en-US" sz="3400" b="1" dirty="0">
                <a:solidFill>
                  <a:srgbClr val="F2A33A"/>
                </a:solidFill>
                <a:latin typeface="Arial" pitchFamily="34" charset="0"/>
                <a:ea typeface="Arial" pitchFamily="34" charset="-122"/>
                <a:cs typeface="Arial" pitchFamily="34" charset="-120"/>
              </a:rPr>
              <a:t>$114,734</a:t>
            </a:r>
            <a:endParaRPr lang="en-US" sz="3400" dirty="0"/>
          </a:p>
        </p:txBody>
      </p:sp>
      <p:sp>
        <p:nvSpPr>
          <p:cNvPr id="24" name="Text 22"/>
          <p:cNvSpPr txBox="1"/>
          <p:nvPr/>
        </p:nvSpPr>
        <p:spPr>
          <a:xfrm>
            <a:off x="5760720" y="2395728"/>
            <a:ext cx="274320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proven value per year from 46 fixes</a:t>
            </a:r>
            <a:endParaRPr lang="en-US" sz="1200" dirty="0"/>
          </a:p>
        </p:txBody>
      </p:sp>
      <p:sp>
        <p:nvSpPr>
          <p:cNvPr id="25" name="Text 23"/>
          <p:cNvSpPr txBox="1"/>
          <p:nvPr/>
        </p:nvSpPr>
        <p:spPr>
          <a:xfrm>
            <a:off x="5760720" y="2788920"/>
            <a:ext cx="274320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C9DCE3"/>
                </a:solidFill>
                <a:latin typeface="Calibri" pitchFamily="34" charset="0"/>
                <a:ea typeface="Calibri" pitchFamily="34" charset="-122"/>
                <a:cs typeface="Calibri" pitchFamily="34" charset="-120"/>
              </a:rPr>
              <a:t>+36.9% experience recovery</a:t>
            </a:r>
            <a:endParaRPr lang="en-US" sz="1200" dirty="0"/>
          </a:p>
          <a:p>
            <a:pPr marL="342900" indent="-342900">
              <a:spcAft>
                <a:spcPts val="400"/>
              </a:spcAft>
              <a:buSzPct val="100000"/>
              <a:buChar char="•"/>
            </a:pPr>
            <a:r>
              <a:rPr lang="en-US" sz="1200" dirty="0">
                <a:solidFill>
                  <a:srgbClr val="C9DCE3"/>
                </a:solidFill>
                <a:latin typeface="Calibri" pitchFamily="34" charset="0"/>
                <a:ea typeface="Calibri" pitchFamily="34" charset="-122"/>
                <a:cs typeface="Calibri" pitchFamily="34" charset="-120"/>
              </a:rPr>
              <a:t>45 of 46 fixes improved</a:t>
            </a:r>
            <a:endParaRPr lang="en-US" sz="1200" dirty="0"/>
          </a:p>
          <a:p>
            <a:pPr marL="342900" indent="-342900">
              <a:spcAft>
                <a:spcPts val="400"/>
              </a:spcAft>
              <a:buSzPct val="100000"/>
              <a:buChar char="•"/>
            </a:pPr>
            <a:r>
              <a:rPr lang="en-US" sz="1200" dirty="0">
                <a:solidFill>
                  <a:srgbClr val="C9DCE3"/>
                </a:solidFill>
                <a:latin typeface="Calibri" pitchFamily="34" charset="0"/>
                <a:ea typeface="Calibri" pitchFamily="34" charset="-122"/>
                <a:cs typeface="Calibri" pitchFamily="34" charset="-120"/>
              </a:rPr>
              <a:t>621 tickets avoided / yr</a:t>
            </a:r>
            <a:endParaRPr lang="en-US" sz="1200" dirty="0"/>
          </a:p>
          <a:p>
            <a:pPr marL="342900" indent="-342900">
              <a:spcAft>
                <a:spcPts val="400"/>
              </a:spcAft>
              <a:buSzPct val="100000"/>
              <a:buChar char="•"/>
            </a:pPr>
            <a:r>
              <a:rPr lang="en-US" sz="1200" dirty="0">
                <a:solidFill>
                  <a:srgbClr val="C9DCE3"/>
                </a:solidFill>
                <a:latin typeface="Calibri" pitchFamily="34" charset="0"/>
                <a:ea typeface="Calibri" pitchFamily="34" charset="-122"/>
                <a:cs typeface="Calibri" pitchFamily="34" charset="-120"/>
              </a:rPr>
              <a:t>1,838 productive hours back</a:t>
            </a:r>
            <a:endParaRPr lang="en-US" sz="1200" dirty="0"/>
          </a:p>
        </p:txBody>
      </p:sp>
      <p:sp>
        <p:nvSpPr>
          <p:cNvPr id="26" name="Text 24"/>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9 / 15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B86E0E"/>
                </a:solidFill>
                <a:latin typeface="Arial" pitchFamily="34" charset="0"/>
                <a:ea typeface="Arial" pitchFamily="34" charset="-122"/>
                <a:cs typeface="Arial" pitchFamily="34" charset="-120"/>
              </a:rPr>
              <a:t>THE OUTCOME METRIC</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13222C"/>
                </a:solidFill>
                <a:latin typeface="Arial" pitchFamily="34" charset="0"/>
                <a:ea typeface="Arial" pitchFamily="34" charset="-122"/>
                <a:cs typeface="Arial" pitchFamily="34" charset="-120"/>
              </a:rPr>
              <a:t>One DEX Score leadership can steer by, and see why it moves</a:t>
            </a:r>
            <a:endParaRPr lang="en-US" sz="2600" dirty="0"/>
          </a:p>
        </p:txBody>
      </p:sp>
      <p:sp>
        <p:nvSpPr>
          <p:cNvPr id="6" name="Shape 4"/>
          <p:cNvSpPr/>
          <p:nvPr/>
        </p:nvSpPr>
        <p:spPr>
          <a:xfrm>
            <a:off x="457200" y="1554480"/>
            <a:ext cx="8229600" cy="548640"/>
          </a:xfrm>
          <a:prstGeom prst="roundRect">
            <a:avLst>
              <a:gd name="adj" fmla="val 13333"/>
            </a:avLst>
          </a:prstGeom>
          <a:solidFill>
            <a:srgbClr val="EEF5F6"/>
          </a:solidFill>
          <a:ln/>
        </p:spPr>
      </p:sp>
      <p:sp>
        <p:nvSpPr>
          <p:cNvPr id="7" name="Text 5"/>
          <p:cNvSpPr txBox="1"/>
          <p:nvPr/>
        </p:nvSpPr>
        <p:spPr>
          <a:xfrm>
            <a:off x="640080" y="1554480"/>
            <a:ext cx="7863840" cy="548640"/>
          </a:xfrm>
          <a:prstGeom prst="rect">
            <a:avLst/>
          </a:prstGeom>
          <a:noFill/>
          <a:ln/>
        </p:spPr>
        <p:txBody>
          <a:bodyPr wrap="square" lIns="0" tIns="0" rIns="0" bIns="0" rtlCol="0" anchor="ctr"/>
          <a:lstStyle/>
          <a:p>
            <a:pPr indent="0" marL="0">
              <a:buNone/>
            </a:pPr>
            <a:r>
              <a:rPr lang="en-US" sz="1700" b="1" dirty="0">
                <a:solidFill>
                  <a:srgbClr val="13222C"/>
                </a:solidFill>
                <a:latin typeface="Arial" pitchFamily="34" charset="0"/>
                <a:ea typeface="Arial" pitchFamily="34" charset="-122"/>
                <a:cs typeface="Arial" pitchFamily="34" charset="-120"/>
              </a:rPr>
              <a:t>DEX  =  0.35 · EEI  +  0.25 · DHS  +  0.20 · RSS  +  0.10 · TRE  +  0.10 · STS</a:t>
            </a:r>
            <a:endParaRPr lang="en-US" sz="1700" dirty="0"/>
          </a:p>
        </p:txBody>
      </p:sp>
      <p:graphicFrame>
        <p:nvGraphicFramePr>
          <p:cNvPr id="8" name="Chart 0" descr=""/>
          <p:cNvGraphicFramePr/>
          <p:nvPr/>
        </p:nvGraphicFramePr>
        <p:xfrm>
          <a:off x="457200" y="2240280"/>
          <a:ext cx="5120640" cy="25146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943600" y="2286000"/>
            <a:ext cx="2743200" cy="868680"/>
          </a:xfrm>
          <a:prstGeom prst="rect">
            <a:avLst/>
          </a:prstGeom>
          <a:noFill/>
          <a:ln/>
        </p:spPr>
        <p:txBody>
          <a:bodyPr wrap="square" lIns="0" tIns="0" rIns="0" bIns="0" rtlCol="0" anchor="t"/>
          <a:lstStyle/>
          <a:p>
            <a:pPr indent="0" marL="0">
              <a:buNone/>
            </a:pPr>
            <a:r>
              <a:rPr lang="en-US" sz="5600" b="1" dirty="0">
                <a:solidFill>
                  <a:srgbClr val="0B7A73"/>
                </a:solidFill>
                <a:latin typeface="Arial" pitchFamily="34" charset="0"/>
                <a:ea typeface="Arial" pitchFamily="34" charset="-122"/>
                <a:cs typeface="Arial" pitchFamily="34" charset="-120"/>
              </a:rPr>
              <a:t>79.3</a:t>
            </a:r>
            <a:endParaRPr lang="en-US" sz="5600" dirty="0"/>
          </a:p>
        </p:txBody>
      </p:sp>
      <p:sp>
        <p:nvSpPr>
          <p:cNvPr id="10" name="Text 7"/>
          <p:cNvSpPr txBox="1"/>
          <p:nvPr/>
        </p:nvSpPr>
        <p:spPr>
          <a:xfrm>
            <a:off x="5943600" y="3127248"/>
            <a:ext cx="2743200" cy="274320"/>
          </a:xfrm>
          <a:prstGeom prst="rect">
            <a:avLst/>
          </a:prstGeom>
          <a:noFill/>
          <a:ln/>
        </p:spPr>
        <p:txBody>
          <a:bodyPr wrap="square" lIns="0" tIns="0" rIns="0" bIns="0" rtlCol="0" anchor="t"/>
          <a:lstStyle/>
          <a:p>
            <a:pPr indent="0" marL="0">
              <a:buNone/>
            </a:pPr>
            <a:r>
              <a:rPr lang="en-US" sz="1300" b="1" dirty="0">
                <a:solidFill>
                  <a:srgbClr val="13222C"/>
                </a:solidFill>
                <a:latin typeface="Calibri" pitchFamily="34" charset="0"/>
                <a:ea typeface="Calibri" pitchFamily="34" charset="-122"/>
                <a:cs typeface="Calibri" pitchFamily="34" charset="-120"/>
              </a:rPr>
              <a:t>Fleet DEX Score · Good</a:t>
            </a:r>
            <a:endParaRPr lang="en-US" sz="1300" dirty="0"/>
          </a:p>
        </p:txBody>
      </p:sp>
      <p:sp>
        <p:nvSpPr>
          <p:cNvPr id="11" name="Text 8"/>
          <p:cNvSpPr txBox="1"/>
          <p:nvPr/>
        </p:nvSpPr>
        <p:spPr>
          <a:xfrm>
            <a:off x="5943600" y="3520440"/>
            <a:ext cx="2697480" cy="1097280"/>
          </a:xfrm>
          <a:prstGeom prst="rect">
            <a:avLst/>
          </a:prstGeom>
          <a:noFill/>
          <a:ln/>
        </p:spPr>
        <p:txBody>
          <a:bodyPr wrap="square" lIns="0" tIns="0" rIns="0" bIns="0" rtlCol="0" anchor="t"/>
          <a:lstStyle/>
          <a:p>
            <a:pPr indent="0" marL="0">
              <a:buNone/>
            </a:pPr>
            <a:r>
              <a:rPr lang="en-US" sz="1200" dirty="0">
                <a:solidFill>
                  <a:srgbClr val="3E5260"/>
                </a:solidFill>
                <a:latin typeface="Calibri" pitchFamily="34" charset="0"/>
                <a:ea typeface="Calibri" pitchFamily="34" charset="-122"/>
                <a:cs typeface="Calibri" pitchFamily="34" charset="-120"/>
              </a:rPr>
              <a:t>The weakest lever is Remediation Success at 54.0: nearly half of contacts are repeats. Fixing things first time is the fastest way up.</a:t>
            </a:r>
            <a:endParaRPr lang="en-US" sz="1200" dirty="0"/>
          </a:p>
        </p:txBody>
      </p:sp>
      <p:sp>
        <p:nvSpPr>
          <p:cNvPr id="12" name="Text 9"/>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10 / 15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330"/>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F2A33A"/>
                </a:solidFill>
                <a:latin typeface="Arial" pitchFamily="34" charset="0"/>
                <a:ea typeface="Arial" pitchFamily="34" charset="-122"/>
                <a:cs typeface="Arial" pitchFamily="34" charset="-120"/>
              </a:rPr>
              <a:t>AI YOU CAN AUDIT</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Every number is explainable, measured and grounded</a:t>
            </a:r>
            <a:endParaRPr lang="en-US" sz="2600" dirty="0"/>
          </a:p>
        </p:txBody>
      </p:sp>
      <p:sp>
        <p:nvSpPr>
          <p:cNvPr id="6" name="Shape 4"/>
          <p:cNvSpPr/>
          <p:nvPr/>
        </p:nvSpPr>
        <p:spPr>
          <a:xfrm>
            <a:off x="457200" y="1572768"/>
            <a:ext cx="3017520" cy="3090672"/>
          </a:xfrm>
          <a:prstGeom prst="roundRect">
            <a:avLst>
              <a:gd name="adj" fmla="val 2424"/>
            </a:avLst>
          </a:prstGeom>
          <a:solidFill>
            <a:srgbClr val="18384A"/>
          </a:solidFill>
          <a:ln/>
        </p:spPr>
      </p:sp>
      <p:sp>
        <p:nvSpPr>
          <p:cNvPr id="7" name="Shape 5"/>
          <p:cNvSpPr/>
          <p:nvPr/>
        </p:nvSpPr>
        <p:spPr>
          <a:xfrm>
            <a:off x="658368" y="1755648"/>
            <a:ext cx="566928" cy="566928"/>
          </a:xfrm>
          <a:prstGeom prst="ellipse">
            <a:avLst/>
          </a:prstGeom>
          <a:solidFill>
            <a:srgbClr val="14A89E"/>
          </a:solidFill>
          <a:ln/>
        </p:spPr>
      </p:sp>
      <p:pic>
        <p:nvPicPr>
          <p:cNvPr id="8" name="Image 0" descr="preencoded.png">    </p:cNvPr>
          <p:cNvPicPr>
            <a:picLocks noChangeAspect="1"/>
          </p:cNvPicPr>
          <p:nvPr/>
        </p:nvPicPr>
        <p:blipFill>
          <a:blip r:embed="rId1"/>
          <a:stretch>
            <a:fillRect/>
          </a:stretch>
        </p:blipFill>
        <p:spPr>
          <a:xfrm>
            <a:off x="794431" y="1891711"/>
            <a:ext cx="294803" cy="294803"/>
          </a:xfrm>
          <a:prstGeom prst="rect">
            <a:avLst/>
          </a:prstGeom>
        </p:spPr>
      </p:pic>
      <p:sp>
        <p:nvSpPr>
          <p:cNvPr id="9" name="Text 6"/>
          <p:cNvSpPr txBox="1"/>
          <p:nvPr/>
        </p:nvSpPr>
        <p:spPr>
          <a:xfrm>
            <a:off x="1371600" y="1847088"/>
            <a:ext cx="201168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DEX Copilot</a:t>
            </a:r>
            <a:endParaRPr lang="en-US" sz="1700" dirty="0"/>
          </a:p>
        </p:txBody>
      </p:sp>
      <p:sp>
        <p:nvSpPr>
          <p:cNvPr id="10" name="Text 7"/>
          <p:cNvSpPr txBox="1"/>
          <p:nvPr/>
        </p:nvSpPr>
        <p:spPr>
          <a:xfrm>
            <a:off x="658368" y="2487168"/>
            <a:ext cx="2697480" cy="20116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C9DCE3"/>
                </a:solidFill>
                <a:latin typeface="Calibri" pitchFamily="34" charset="0"/>
                <a:ea typeface="Calibri" pitchFamily="34" charset="-122"/>
                <a:cs typeface="Calibri" pitchFamily="34" charset="-120"/>
              </a:rPr>
              <a:t>Claude agent with 8 tools over the engines</a:t>
            </a:r>
            <a:endParaRPr lang="en-US" sz="1200" dirty="0"/>
          </a:p>
          <a:p>
            <a:pPr marL="342900" indent="-342900">
              <a:spcAft>
                <a:spcPts val="500"/>
              </a:spcAft>
              <a:buSzPct val="100000"/>
              <a:buChar char="•"/>
            </a:pPr>
            <a:r>
              <a:rPr lang="en-US" sz="1200" dirty="0">
                <a:solidFill>
                  <a:srgbClr val="C9DCE3"/>
                </a:solidFill>
                <a:latin typeface="Calibri" pitchFamily="34" charset="0"/>
                <a:ea typeface="Calibri" pitchFamily="34" charset="-122"/>
                <a:cs typeface="Calibri" pitchFamily="34" charset="-120"/>
              </a:rPr>
              <a:t>RAG over 22 runbooks (BM25)</a:t>
            </a:r>
            <a:endParaRPr lang="en-US" sz="1200" dirty="0"/>
          </a:p>
          <a:p>
            <a:pPr marL="342900" indent="-342900">
              <a:spcAft>
                <a:spcPts val="500"/>
              </a:spcAft>
              <a:buSzPct val="100000"/>
              <a:buChar char="•"/>
            </a:pPr>
            <a:r>
              <a:rPr lang="en-US" sz="1200" dirty="0">
                <a:solidFill>
                  <a:srgbClr val="C9DCE3"/>
                </a:solidFill>
                <a:latin typeface="Calibri" pitchFamily="34" charset="0"/>
                <a:ea typeface="Calibri" pitchFamily="34" charset="-122"/>
                <a:cs typeface="Calibri" pitchFamily="34" charset="-120"/>
              </a:rPr>
              <a:t>Schema-enforced answers with citations</a:t>
            </a:r>
            <a:endParaRPr lang="en-US" sz="1200" dirty="0"/>
          </a:p>
          <a:p>
            <a:pPr marL="342900" indent="-342900">
              <a:spcAft>
                <a:spcPts val="500"/>
              </a:spcAft>
              <a:buSzPct val="100000"/>
              <a:buChar char="•"/>
            </a:pPr>
            <a:r>
              <a:rPr lang="en-US" sz="1200" dirty="0">
                <a:solidFill>
                  <a:srgbClr val="C9DCE3"/>
                </a:solidFill>
                <a:latin typeface="Calibri" pitchFamily="34" charset="0"/>
                <a:ea typeface="Calibri" pitchFamily="34" charset="-122"/>
                <a:cs typeface="Calibri" pitchFamily="34" charset="-120"/>
              </a:rPr>
              <a:t>Every number fetched, never invented</a:t>
            </a:r>
            <a:endParaRPr lang="en-US" sz="1200" dirty="0"/>
          </a:p>
          <a:p>
            <a:pPr marL="342900" indent="-342900">
              <a:spcAft>
                <a:spcPts val="500"/>
              </a:spcAft>
              <a:buSzPct val="100000"/>
              <a:buChar char="•"/>
            </a:pPr>
            <a:r>
              <a:rPr lang="en-US" sz="1200" dirty="0">
                <a:solidFill>
                  <a:srgbClr val="C9DCE3"/>
                </a:solidFill>
                <a:latin typeface="Calibri" pitchFamily="34" charset="0"/>
                <a:ea typeface="Calibri" pitchFamily="34" charset="-122"/>
                <a:cs typeface="Calibri" pitchFamily="34" charset="-120"/>
              </a:rPr>
              <a:t>Falls back offline if the LLM is unavailable</a:t>
            </a:r>
            <a:endParaRPr lang="en-US" sz="1200" dirty="0"/>
          </a:p>
        </p:txBody>
      </p:sp>
      <p:sp>
        <p:nvSpPr>
          <p:cNvPr id="11" name="Shape 8"/>
          <p:cNvSpPr/>
          <p:nvPr/>
        </p:nvSpPr>
        <p:spPr>
          <a:xfrm>
            <a:off x="3749040" y="1618488"/>
            <a:ext cx="457200" cy="457200"/>
          </a:xfrm>
          <a:prstGeom prst="ellipse">
            <a:avLst/>
          </a:prstGeom>
          <a:solidFill>
            <a:srgbClr val="B86E0E"/>
          </a:solidFill>
          <a:ln/>
        </p:spPr>
      </p:sp>
      <p:pic>
        <p:nvPicPr>
          <p:cNvPr id="12" name="Image 1" descr="preencoded.png">    </p:cNvPr>
          <p:cNvPicPr>
            <a:picLocks noChangeAspect="1"/>
          </p:cNvPicPr>
          <p:nvPr/>
        </p:nvPicPr>
        <p:blipFill>
          <a:blip r:embed="rId2"/>
          <a:stretch>
            <a:fillRect/>
          </a:stretch>
        </p:blipFill>
        <p:spPr>
          <a:xfrm>
            <a:off x="3858768" y="1728216"/>
            <a:ext cx="237744" cy="237744"/>
          </a:xfrm>
          <a:prstGeom prst="rect">
            <a:avLst/>
          </a:prstGeom>
        </p:spPr>
      </p:pic>
      <p:sp>
        <p:nvSpPr>
          <p:cNvPr id="13" name="Text 9"/>
          <p:cNvSpPr txBox="1"/>
          <p:nvPr/>
        </p:nvSpPr>
        <p:spPr>
          <a:xfrm>
            <a:off x="4315968" y="1572768"/>
            <a:ext cx="18288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Explainable</a:t>
            </a:r>
            <a:endParaRPr lang="en-US" sz="1300" dirty="0"/>
          </a:p>
        </p:txBody>
      </p:sp>
      <p:sp>
        <p:nvSpPr>
          <p:cNvPr id="14" name="Text 10"/>
          <p:cNvSpPr txBox="1"/>
          <p:nvPr/>
        </p:nvSpPr>
        <p:spPr>
          <a:xfrm>
            <a:off x="4315968" y="1847088"/>
            <a:ext cx="1828800" cy="658368"/>
          </a:xfrm>
          <a:prstGeom prst="rect">
            <a:avLst/>
          </a:prstGeom>
          <a:noFill/>
          <a:ln/>
        </p:spPr>
        <p:txBody>
          <a:bodyPr wrap="square" lIns="0" tIns="0" rIns="0" bIns="0" rtlCol="0" anchor="t"/>
          <a:lstStyle/>
          <a:p>
            <a:pPr indent="0" marL="0">
              <a:buNone/>
            </a:pPr>
            <a:r>
              <a:rPr lang="en-US" sz="1050" dirty="0">
                <a:solidFill>
                  <a:srgbClr val="C9DCE3"/>
                </a:solidFill>
                <a:latin typeface="Calibri" pitchFamily="34" charset="0"/>
                <a:ea typeface="Calibri" pitchFamily="34" charset="-122"/>
                <a:cs typeface="Calibri" pitchFamily="34" charset="-120"/>
              </a:rPr>
              <a:t>Scores trace to phrases and thresholds; predictions list their drivers</a:t>
            </a:r>
            <a:endParaRPr lang="en-US" sz="1050" dirty="0"/>
          </a:p>
        </p:txBody>
      </p:sp>
      <p:sp>
        <p:nvSpPr>
          <p:cNvPr id="15" name="Shape 11"/>
          <p:cNvSpPr/>
          <p:nvPr/>
        </p:nvSpPr>
        <p:spPr>
          <a:xfrm>
            <a:off x="6236208" y="1618488"/>
            <a:ext cx="457200" cy="457200"/>
          </a:xfrm>
          <a:prstGeom prst="ellipse">
            <a:avLst/>
          </a:prstGeom>
          <a:solidFill>
            <a:srgbClr val="14A89E"/>
          </a:solidFill>
          <a:ln/>
        </p:spPr>
      </p:sp>
      <p:pic>
        <p:nvPicPr>
          <p:cNvPr id="16" name="Image 2" descr="preencoded.png">    </p:cNvPr>
          <p:cNvPicPr>
            <a:picLocks noChangeAspect="1"/>
          </p:cNvPicPr>
          <p:nvPr/>
        </p:nvPicPr>
        <p:blipFill>
          <a:blip r:embed="rId3"/>
          <a:stretch>
            <a:fillRect/>
          </a:stretch>
        </p:blipFill>
        <p:spPr>
          <a:xfrm>
            <a:off x="6345936" y="1728216"/>
            <a:ext cx="237744" cy="237744"/>
          </a:xfrm>
          <a:prstGeom prst="rect">
            <a:avLst/>
          </a:prstGeom>
        </p:spPr>
      </p:pic>
      <p:sp>
        <p:nvSpPr>
          <p:cNvPr id="17" name="Text 12"/>
          <p:cNvSpPr txBox="1"/>
          <p:nvPr/>
        </p:nvSpPr>
        <p:spPr>
          <a:xfrm>
            <a:off x="6803136" y="1572768"/>
            <a:ext cx="18288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Measured</a:t>
            </a:r>
            <a:endParaRPr lang="en-US" sz="1300" dirty="0"/>
          </a:p>
        </p:txBody>
      </p:sp>
      <p:sp>
        <p:nvSpPr>
          <p:cNvPr id="18" name="Text 13"/>
          <p:cNvSpPr txBox="1"/>
          <p:nvPr/>
        </p:nvSpPr>
        <p:spPr>
          <a:xfrm>
            <a:off x="6803136" y="1847088"/>
            <a:ext cx="1828800" cy="658368"/>
          </a:xfrm>
          <a:prstGeom prst="rect">
            <a:avLst/>
          </a:prstGeom>
          <a:noFill/>
          <a:ln/>
        </p:spPr>
        <p:txBody>
          <a:bodyPr wrap="square" lIns="0" tIns="0" rIns="0" bIns="0" rtlCol="0" anchor="t"/>
          <a:lstStyle/>
          <a:p>
            <a:pPr indent="0" marL="0">
              <a:buNone/>
            </a:pPr>
            <a:r>
              <a:rPr lang="en-US" sz="1050" dirty="0">
                <a:solidFill>
                  <a:srgbClr val="C9DCE3"/>
                </a:solidFill>
                <a:latin typeface="Calibri" pitchFamily="34" charset="0"/>
                <a:ea typeface="Calibri" pitchFamily="34" charset="-122"/>
                <a:cs typeface="Calibri" pitchFamily="34" charset="-120"/>
              </a:rPr>
              <a:t>ML always shown next to the rule baseline it must beat</a:t>
            </a:r>
            <a:endParaRPr lang="en-US" sz="1050" dirty="0"/>
          </a:p>
        </p:txBody>
      </p:sp>
      <p:sp>
        <p:nvSpPr>
          <p:cNvPr id="19" name="Shape 14"/>
          <p:cNvSpPr/>
          <p:nvPr/>
        </p:nvSpPr>
        <p:spPr>
          <a:xfrm>
            <a:off x="3749040" y="2670048"/>
            <a:ext cx="457200" cy="457200"/>
          </a:xfrm>
          <a:prstGeom prst="ellipse">
            <a:avLst/>
          </a:prstGeom>
          <a:solidFill>
            <a:srgbClr val="B86E0E"/>
          </a:solidFill>
          <a:ln/>
        </p:spPr>
      </p:sp>
      <p:pic>
        <p:nvPicPr>
          <p:cNvPr id="20" name="Image 3" descr="preencoded.png">    </p:cNvPr>
          <p:cNvPicPr>
            <a:picLocks noChangeAspect="1"/>
          </p:cNvPicPr>
          <p:nvPr/>
        </p:nvPicPr>
        <p:blipFill>
          <a:blip r:embed="rId4"/>
          <a:stretch>
            <a:fillRect/>
          </a:stretch>
        </p:blipFill>
        <p:spPr>
          <a:xfrm>
            <a:off x="3858768" y="2779776"/>
            <a:ext cx="237744" cy="237744"/>
          </a:xfrm>
          <a:prstGeom prst="rect">
            <a:avLst/>
          </a:prstGeom>
        </p:spPr>
      </p:pic>
      <p:sp>
        <p:nvSpPr>
          <p:cNvPr id="21" name="Text 15"/>
          <p:cNvSpPr txBox="1"/>
          <p:nvPr/>
        </p:nvSpPr>
        <p:spPr>
          <a:xfrm>
            <a:off x="4315968" y="2624328"/>
            <a:ext cx="18288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Calibrated</a:t>
            </a:r>
            <a:endParaRPr lang="en-US" sz="1300" dirty="0"/>
          </a:p>
        </p:txBody>
      </p:sp>
      <p:sp>
        <p:nvSpPr>
          <p:cNvPr id="22" name="Text 16"/>
          <p:cNvSpPr txBox="1"/>
          <p:nvPr/>
        </p:nvSpPr>
        <p:spPr>
          <a:xfrm>
            <a:off x="4315968" y="2898648"/>
            <a:ext cx="1828800" cy="658368"/>
          </a:xfrm>
          <a:prstGeom prst="rect">
            <a:avLst/>
          </a:prstGeom>
          <a:noFill/>
          <a:ln/>
        </p:spPr>
        <p:txBody>
          <a:bodyPr wrap="square" lIns="0" tIns="0" rIns="0" bIns="0" rtlCol="0" anchor="t"/>
          <a:lstStyle/>
          <a:p>
            <a:pPr indent="0" marL="0">
              <a:buNone/>
            </a:pPr>
            <a:r>
              <a:rPr lang="en-US" sz="1050" dirty="0">
                <a:solidFill>
                  <a:srgbClr val="C9DCE3"/>
                </a:solidFill>
                <a:latin typeface="Calibri" pitchFamily="34" charset="0"/>
                <a:ea typeface="Calibri" pitchFamily="34" charset="-122"/>
                <a:cs typeface="Calibri" pitchFamily="34" charset="-120"/>
              </a:rPr>
              <a:t>30% risk means 30%, fitted on unseen weeks</a:t>
            </a:r>
            <a:endParaRPr lang="en-US" sz="1050" dirty="0"/>
          </a:p>
        </p:txBody>
      </p:sp>
      <p:sp>
        <p:nvSpPr>
          <p:cNvPr id="23" name="Shape 17"/>
          <p:cNvSpPr/>
          <p:nvPr/>
        </p:nvSpPr>
        <p:spPr>
          <a:xfrm>
            <a:off x="6236208" y="2670048"/>
            <a:ext cx="457200" cy="457200"/>
          </a:xfrm>
          <a:prstGeom prst="ellipse">
            <a:avLst/>
          </a:prstGeom>
          <a:solidFill>
            <a:srgbClr val="14A89E"/>
          </a:solidFill>
          <a:ln/>
        </p:spPr>
      </p:sp>
      <p:pic>
        <p:nvPicPr>
          <p:cNvPr id="24" name="Image 4" descr="preencoded.png">    </p:cNvPr>
          <p:cNvPicPr>
            <a:picLocks noChangeAspect="1"/>
          </p:cNvPicPr>
          <p:nvPr/>
        </p:nvPicPr>
        <p:blipFill>
          <a:blip r:embed="rId5"/>
          <a:stretch>
            <a:fillRect/>
          </a:stretch>
        </p:blipFill>
        <p:spPr>
          <a:xfrm>
            <a:off x="6345936" y="2779776"/>
            <a:ext cx="237744" cy="237744"/>
          </a:xfrm>
          <a:prstGeom prst="rect">
            <a:avLst/>
          </a:prstGeom>
        </p:spPr>
      </p:pic>
      <p:sp>
        <p:nvSpPr>
          <p:cNvPr id="25" name="Text 18"/>
          <p:cNvSpPr txBox="1"/>
          <p:nvPr/>
        </p:nvSpPr>
        <p:spPr>
          <a:xfrm>
            <a:off x="6803136" y="2624328"/>
            <a:ext cx="18288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Grounded</a:t>
            </a:r>
            <a:endParaRPr lang="en-US" sz="1300" dirty="0"/>
          </a:p>
        </p:txBody>
      </p:sp>
      <p:sp>
        <p:nvSpPr>
          <p:cNvPr id="26" name="Text 19"/>
          <p:cNvSpPr txBox="1"/>
          <p:nvPr/>
        </p:nvSpPr>
        <p:spPr>
          <a:xfrm>
            <a:off x="6803136" y="2898648"/>
            <a:ext cx="1828800" cy="658368"/>
          </a:xfrm>
          <a:prstGeom prst="rect">
            <a:avLst/>
          </a:prstGeom>
          <a:noFill/>
          <a:ln/>
        </p:spPr>
        <p:txBody>
          <a:bodyPr wrap="square" lIns="0" tIns="0" rIns="0" bIns="0" rtlCol="0" anchor="t"/>
          <a:lstStyle/>
          <a:p>
            <a:pPr indent="0" marL="0">
              <a:buNone/>
            </a:pPr>
            <a:r>
              <a:rPr lang="en-US" sz="1050" dirty="0">
                <a:solidFill>
                  <a:srgbClr val="C9DCE3"/>
                </a:solidFill>
                <a:latin typeface="Calibri" pitchFamily="34" charset="0"/>
                <a:ea typeface="Calibri" pitchFamily="34" charset="-122"/>
                <a:cs typeface="Calibri" pitchFamily="34" charset="-120"/>
              </a:rPr>
              <a:t>The LLM cites tool results and runbooks</a:t>
            </a:r>
            <a:endParaRPr lang="en-US" sz="1050" dirty="0"/>
          </a:p>
        </p:txBody>
      </p:sp>
      <p:sp>
        <p:nvSpPr>
          <p:cNvPr id="27" name="Shape 20"/>
          <p:cNvSpPr/>
          <p:nvPr/>
        </p:nvSpPr>
        <p:spPr>
          <a:xfrm>
            <a:off x="3749040" y="3721608"/>
            <a:ext cx="457200" cy="457200"/>
          </a:xfrm>
          <a:prstGeom prst="ellipse">
            <a:avLst/>
          </a:prstGeom>
          <a:solidFill>
            <a:srgbClr val="B86E0E"/>
          </a:solidFill>
          <a:ln/>
        </p:spPr>
      </p:sp>
      <p:pic>
        <p:nvPicPr>
          <p:cNvPr id="28" name="Image 5" descr="preencoded.png">    </p:cNvPr>
          <p:cNvPicPr>
            <a:picLocks noChangeAspect="1"/>
          </p:cNvPicPr>
          <p:nvPr/>
        </p:nvPicPr>
        <p:blipFill>
          <a:blip r:embed="rId6"/>
          <a:stretch>
            <a:fillRect/>
          </a:stretch>
        </p:blipFill>
        <p:spPr>
          <a:xfrm>
            <a:off x="3858768" y="3831336"/>
            <a:ext cx="237744" cy="237744"/>
          </a:xfrm>
          <a:prstGeom prst="rect">
            <a:avLst/>
          </a:prstGeom>
        </p:spPr>
      </p:pic>
      <p:sp>
        <p:nvSpPr>
          <p:cNvPr id="29" name="Text 21"/>
          <p:cNvSpPr txBox="1"/>
          <p:nvPr/>
        </p:nvSpPr>
        <p:spPr>
          <a:xfrm>
            <a:off x="4315968" y="3675888"/>
            <a:ext cx="18288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Private</a:t>
            </a:r>
            <a:endParaRPr lang="en-US" sz="1300" dirty="0"/>
          </a:p>
        </p:txBody>
      </p:sp>
      <p:sp>
        <p:nvSpPr>
          <p:cNvPr id="30" name="Text 22"/>
          <p:cNvSpPr txBox="1"/>
          <p:nvPr/>
        </p:nvSpPr>
        <p:spPr>
          <a:xfrm>
            <a:off x="4315968" y="3950208"/>
            <a:ext cx="1828800" cy="658368"/>
          </a:xfrm>
          <a:prstGeom prst="rect">
            <a:avLst/>
          </a:prstGeom>
          <a:noFill/>
          <a:ln/>
        </p:spPr>
        <p:txBody>
          <a:bodyPr wrap="square" lIns="0" tIns="0" rIns="0" bIns="0" rtlCol="0" anchor="t"/>
          <a:lstStyle/>
          <a:p>
            <a:pPr indent="0" marL="0">
              <a:buNone/>
            </a:pPr>
            <a:r>
              <a:rPr lang="en-US" sz="1050" dirty="0">
                <a:solidFill>
                  <a:srgbClr val="C9DCE3"/>
                </a:solidFill>
                <a:latin typeface="Calibri" pitchFamily="34" charset="0"/>
                <a:ea typeface="Calibri" pitchFamily="34" charset="-122"/>
                <a:cs typeface="Calibri" pitchFamily="34" charset="-120"/>
              </a:rPr>
              <a:t>Runs fully offline; names can be pseudonymised</a:t>
            </a:r>
            <a:endParaRPr lang="en-US" sz="1050" dirty="0"/>
          </a:p>
        </p:txBody>
      </p:sp>
      <p:sp>
        <p:nvSpPr>
          <p:cNvPr id="31" name="Shape 23"/>
          <p:cNvSpPr/>
          <p:nvPr/>
        </p:nvSpPr>
        <p:spPr>
          <a:xfrm>
            <a:off x="6236208" y="3721608"/>
            <a:ext cx="457200" cy="457200"/>
          </a:xfrm>
          <a:prstGeom prst="ellipse">
            <a:avLst/>
          </a:prstGeom>
          <a:solidFill>
            <a:srgbClr val="14A89E"/>
          </a:solidFill>
          <a:ln/>
        </p:spPr>
      </p:sp>
      <p:pic>
        <p:nvPicPr>
          <p:cNvPr id="32" name="Image 6" descr="preencoded.png">    </p:cNvPr>
          <p:cNvPicPr>
            <a:picLocks noChangeAspect="1"/>
          </p:cNvPicPr>
          <p:nvPr/>
        </p:nvPicPr>
        <p:blipFill>
          <a:blip r:embed="rId7"/>
          <a:stretch>
            <a:fillRect/>
          </a:stretch>
        </p:blipFill>
        <p:spPr>
          <a:xfrm>
            <a:off x="6345936" y="3831336"/>
            <a:ext cx="237744" cy="237744"/>
          </a:xfrm>
          <a:prstGeom prst="rect">
            <a:avLst/>
          </a:prstGeom>
        </p:spPr>
      </p:pic>
      <p:sp>
        <p:nvSpPr>
          <p:cNvPr id="33" name="Text 24"/>
          <p:cNvSpPr txBox="1"/>
          <p:nvPr/>
        </p:nvSpPr>
        <p:spPr>
          <a:xfrm>
            <a:off x="6803136" y="3675888"/>
            <a:ext cx="18288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Human in the loop</a:t>
            </a:r>
            <a:endParaRPr lang="en-US" sz="1300" dirty="0"/>
          </a:p>
        </p:txBody>
      </p:sp>
      <p:sp>
        <p:nvSpPr>
          <p:cNvPr id="34" name="Text 25"/>
          <p:cNvSpPr txBox="1"/>
          <p:nvPr/>
        </p:nvSpPr>
        <p:spPr>
          <a:xfrm>
            <a:off x="6803136" y="3950208"/>
            <a:ext cx="1828800" cy="658368"/>
          </a:xfrm>
          <a:prstGeom prst="rect">
            <a:avLst/>
          </a:prstGeom>
          <a:noFill/>
          <a:ln/>
        </p:spPr>
        <p:txBody>
          <a:bodyPr wrap="square" lIns="0" tIns="0" rIns="0" bIns="0" rtlCol="0" anchor="t"/>
          <a:lstStyle/>
          <a:p>
            <a:pPr indent="0" marL="0">
              <a:buNone/>
            </a:pPr>
            <a:r>
              <a:rPr lang="en-US" sz="1050" dirty="0">
                <a:solidFill>
                  <a:srgbClr val="C9DCE3"/>
                </a:solidFill>
                <a:latin typeface="Calibri" pitchFamily="34" charset="0"/>
                <a:ea typeface="Calibri" pitchFamily="34" charset="-122"/>
                <a:cs typeface="Calibri" pitchFamily="34" charset="-120"/>
              </a:rPr>
              <a:t>Engineers confirm the cause before acting</a:t>
            </a:r>
            <a:endParaRPr lang="en-US" sz="1050" dirty="0"/>
          </a:p>
        </p:txBody>
      </p:sp>
      <p:sp>
        <p:nvSpPr>
          <p:cNvPr id="35" name="Text 26"/>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11 / 15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B86E0E"/>
                </a:solidFill>
                <a:latin typeface="Arial" pitchFamily="34" charset="0"/>
                <a:ea typeface="Arial" pitchFamily="34" charset="-122"/>
                <a:cs typeface="Arial" pitchFamily="34" charset="-120"/>
              </a:rPr>
              <a:t>ARCHITECTURE</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13222C"/>
                </a:solidFill>
                <a:latin typeface="Arial" pitchFamily="34" charset="0"/>
                <a:ea typeface="Arial" pitchFamily="34" charset="-122"/>
                <a:cs typeface="Arial" pitchFamily="34" charset="-120"/>
              </a:rPr>
              <a:t>One pipeline from raw exports to decisions</a:t>
            </a:r>
            <a:endParaRPr lang="en-US" sz="2600" dirty="0"/>
          </a:p>
        </p:txBody>
      </p:sp>
      <p:sp>
        <p:nvSpPr>
          <p:cNvPr id="6" name="Shape 4"/>
          <p:cNvSpPr/>
          <p:nvPr/>
        </p:nvSpPr>
        <p:spPr>
          <a:xfrm>
            <a:off x="457200" y="1600200"/>
            <a:ext cx="1600200" cy="566928"/>
          </a:xfrm>
          <a:prstGeom prst="roundRect">
            <a:avLst>
              <a:gd name="adj" fmla="val 9677"/>
            </a:avLst>
          </a:prstGeom>
          <a:solidFill>
            <a:srgbClr val="FCE9CF"/>
          </a:solidFill>
          <a:ln/>
        </p:spPr>
      </p:sp>
      <p:sp>
        <p:nvSpPr>
          <p:cNvPr id="7" name="Text 5"/>
          <p:cNvSpPr txBox="1"/>
          <p:nvPr/>
        </p:nvSpPr>
        <p:spPr>
          <a:xfrm>
            <a:off x="548640" y="1600200"/>
            <a:ext cx="1417320" cy="56692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Tickets · chats</a:t>
            </a:r>
            <a:endParaRPr lang="en-US" sz="1150" dirty="0"/>
          </a:p>
          <a:p>
            <a:pPr algn="ctr" indent="0" marL="0">
              <a:buNone/>
            </a:pPr>
            <a:r>
              <a:rPr lang="en-US" sz="950" dirty="0">
                <a:solidFill>
                  <a:srgbClr val="3E5260"/>
                </a:solidFill>
                <a:latin typeface="Calibri" pitchFamily="34" charset="0"/>
                <a:ea typeface="Calibri" pitchFamily="34" charset="-122"/>
                <a:cs typeface="Calibri" pitchFamily="34" charset="-120"/>
              </a:rPr>
              <a:t>calls, repeats</a:t>
            </a:r>
            <a:endParaRPr lang="en-US" sz="1150" dirty="0"/>
          </a:p>
        </p:txBody>
      </p:sp>
      <p:sp>
        <p:nvSpPr>
          <p:cNvPr id="8" name="Shape 6"/>
          <p:cNvSpPr/>
          <p:nvPr/>
        </p:nvSpPr>
        <p:spPr>
          <a:xfrm>
            <a:off x="457200" y="2286000"/>
            <a:ext cx="1600200" cy="566928"/>
          </a:xfrm>
          <a:prstGeom prst="roundRect">
            <a:avLst>
              <a:gd name="adj" fmla="val 9677"/>
            </a:avLst>
          </a:prstGeom>
          <a:solidFill>
            <a:srgbClr val="D3EFEC"/>
          </a:solidFill>
          <a:ln/>
        </p:spPr>
      </p:sp>
      <p:sp>
        <p:nvSpPr>
          <p:cNvPr id="9" name="Text 7"/>
          <p:cNvSpPr txBox="1"/>
          <p:nvPr/>
        </p:nvSpPr>
        <p:spPr>
          <a:xfrm>
            <a:off x="548640" y="2286000"/>
            <a:ext cx="1417320" cy="56692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Telemetry</a:t>
            </a:r>
            <a:endParaRPr lang="en-US" sz="1150" dirty="0"/>
          </a:p>
          <a:p>
            <a:pPr algn="ctr" indent="0" marL="0">
              <a:buNone/>
            </a:pPr>
            <a:r>
              <a:rPr lang="en-US" sz="950" dirty="0">
                <a:solidFill>
                  <a:srgbClr val="3E5260"/>
                </a:solidFill>
                <a:latin typeface="Calibri" pitchFamily="34" charset="0"/>
                <a:ea typeface="Calibri" pitchFamily="34" charset="-122"/>
                <a:cs typeface="Calibri" pitchFamily="34" charset="-120"/>
              </a:rPr>
              <a:t>boot, hangs, network</a:t>
            </a:r>
            <a:endParaRPr lang="en-US" sz="1150" dirty="0"/>
          </a:p>
        </p:txBody>
      </p:sp>
      <p:sp>
        <p:nvSpPr>
          <p:cNvPr id="10" name="Shape 8"/>
          <p:cNvSpPr/>
          <p:nvPr/>
        </p:nvSpPr>
        <p:spPr>
          <a:xfrm>
            <a:off x="457200" y="2971800"/>
            <a:ext cx="1600200" cy="566928"/>
          </a:xfrm>
          <a:prstGeom prst="roundRect">
            <a:avLst>
              <a:gd name="adj" fmla="val 9677"/>
            </a:avLst>
          </a:prstGeom>
          <a:solidFill>
            <a:srgbClr val="EEF5F6"/>
          </a:solidFill>
          <a:ln/>
        </p:spPr>
      </p:sp>
      <p:sp>
        <p:nvSpPr>
          <p:cNvPr id="11" name="Text 9"/>
          <p:cNvSpPr txBox="1"/>
          <p:nvPr/>
        </p:nvSpPr>
        <p:spPr>
          <a:xfrm>
            <a:off x="548640" y="2971800"/>
            <a:ext cx="1417320" cy="56692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Remediations</a:t>
            </a:r>
            <a:endParaRPr lang="en-US" sz="1150" dirty="0"/>
          </a:p>
          <a:p>
            <a:pPr algn="ctr" indent="0" marL="0">
              <a:buNone/>
            </a:pPr>
            <a:r>
              <a:rPr lang="en-US" sz="950" dirty="0">
                <a:solidFill>
                  <a:srgbClr val="3E5260"/>
                </a:solidFill>
                <a:latin typeface="Calibri" pitchFamily="34" charset="0"/>
                <a:ea typeface="Calibri" pitchFamily="34" charset="-122"/>
                <a:cs typeface="Calibri" pitchFamily="34" charset="-120"/>
              </a:rPr>
              <a:t>fixes applied</a:t>
            </a:r>
            <a:endParaRPr lang="en-US" sz="1150" dirty="0"/>
          </a:p>
        </p:txBody>
      </p:sp>
      <p:sp>
        <p:nvSpPr>
          <p:cNvPr id="12" name="Shape 10"/>
          <p:cNvSpPr/>
          <p:nvPr/>
        </p:nvSpPr>
        <p:spPr>
          <a:xfrm>
            <a:off x="2423160" y="2286000"/>
            <a:ext cx="1417320" cy="566928"/>
          </a:xfrm>
          <a:prstGeom prst="roundRect">
            <a:avLst>
              <a:gd name="adj" fmla="val 9677"/>
            </a:avLst>
          </a:prstGeom>
          <a:solidFill>
            <a:srgbClr val="EEF5F6"/>
          </a:solidFill>
          <a:ln/>
        </p:spPr>
      </p:sp>
      <p:sp>
        <p:nvSpPr>
          <p:cNvPr id="13" name="Text 11"/>
          <p:cNvSpPr txBox="1"/>
          <p:nvPr/>
        </p:nvSpPr>
        <p:spPr>
          <a:xfrm>
            <a:off x="2514600" y="2286000"/>
            <a:ext cx="1234440" cy="56692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Ingest</a:t>
            </a:r>
            <a:endParaRPr lang="en-US" sz="1150" dirty="0"/>
          </a:p>
          <a:p>
            <a:pPr algn="ctr" indent="0" marL="0">
              <a:buNone/>
            </a:pPr>
            <a:r>
              <a:rPr lang="en-US" sz="950" dirty="0">
                <a:solidFill>
                  <a:srgbClr val="3E5260"/>
                </a:solidFill>
                <a:latin typeface="Calibri" pitchFamily="34" charset="0"/>
                <a:ea typeface="Calibri" pitchFamily="34" charset="-122"/>
                <a:cs typeface="Calibri" pitchFamily="34" charset="-120"/>
              </a:rPr>
              <a:t>any .xlsx / .csv</a:t>
            </a:r>
            <a:endParaRPr lang="en-US" sz="1150" dirty="0"/>
          </a:p>
        </p:txBody>
      </p:sp>
      <p:sp>
        <p:nvSpPr>
          <p:cNvPr id="14" name="Shape 12"/>
          <p:cNvSpPr/>
          <p:nvPr/>
        </p:nvSpPr>
        <p:spPr>
          <a:xfrm>
            <a:off x="2057400" y="1883664"/>
            <a:ext cx="365760" cy="585216"/>
          </a:xfrm>
          <a:prstGeom prst="line">
            <a:avLst/>
          </a:prstGeom>
          <a:noFill/>
          <a:ln w="19050">
            <a:solidFill>
              <a:srgbClr val="7B8E99"/>
            </a:solidFill>
            <a:prstDash val="solid"/>
            <a:tailEnd type="triangle"/>
          </a:ln>
        </p:spPr>
      </p:sp>
      <p:sp>
        <p:nvSpPr>
          <p:cNvPr id="15" name="Shape 13"/>
          <p:cNvSpPr/>
          <p:nvPr/>
        </p:nvSpPr>
        <p:spPr>
          <a:xfrm>
            <a:off x="2057400" y="2569464"/>
            <a:ext cx="365760" cy="0"/>
          </a:xfrm>
          <a:prstGeom prst="line">
            <a:avLst/>
          </a:prstGeom>
          <a:noFill/>
          <a:ln w="19050">
            <a:solidFill>
              <a:srgbClr val="7B8E99"/>
            </a:solidFill>
            <a:prstDash val="solid"/>
            <a:tailEnd type="triangle"/>
          </a:ln>
        </p:spPr>
      </p:sp>
      <p:sp>
        <p:nvSpPr>
          <p:cNvPr id="16" name="Shape 14"/>
          <p:cNvSpPr/>
          <p:nvPr/>
        </p:nvSpPr>
        <p:spPr>
          <a:xfrm flipV="1">
            <a:off x="2057400" y="2697480"/>
            <a:ext cx="365760" cy="557784"/>
          </a:xfrm>
          <a:prstGeom prst="line">
            <a:avLst/>
          </a:prstGeom>
          <a:noFill/>
          <a:ln w="19050">
            <a:solidFill>
              <a:srgbClr val="7B8E99"/>
            </a:solidFill>
            <a:prstDash val="solid"/>
            <a:tailEnd type="triangle"/>
          </a:ln>
        </p:spPr>
      </p:sp>
      <p:sp>
        <p:nvSpPr>
          <p:cNvPr id="17" name="Shape 15"/>
          <p:cNvSpPr/>
          <p:nvPr/>
        </p:nvSpPr>
        <p:spPr>
          <a:xfrm>
            <a:off x="4160520" y="2286000"/>
            <a:ext cx="1508760" cy="566928"/>
          </a:xfrm>
          <a:prstGeom prst="roundRect">
            <a:avLst>
              <a:gd name="adj" fmla="val 9677"/>
            </a:avLst>
          </a:prstGeom>
          <a:solidFill>
            <a:srgbClr val="0F2330"/>
          </a:solidFill>
          <a:ln/>
        </p:spPr>
      </p:sp>
      <p:sp>
        <p:nvSpPr>
          <p:cNvPr id="18" name="Text 16"/>
          <p:cNvSpPr txBox="1"/>
          <p:nvPr/>
        </p:nvSpPr>
        <p:spPr>
          <a:xfrm>
            <a:off x="4251960" y="2286000"/>
            <a:ext cx="13258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Analytical store</a:t>
            </a:r>
            <a:endParaRPr lang="en-US" sz="1150" dirty="0"/>
          </a:p>
          <a:p>
            <a:pPr algn="ctr" indent="0" marL="0">
              <a:buNone/>
            </a:pPr>
            <a:r>
              <a:rPr lang="en-US" sz="950" dirty="0">
                <a:solidFill>
                  <a:srgbClr val="C9DCE3"/>
                </a:solidFill>
                <a:latin typeface="Calibri" pitchFamily="34" charset="0"/>
                <a:ea typeface="Calibri" pitchFamily="34" charset="-122"/>
                <a:cs typeface="Calibri" pitchFamily="34" charset="-120"/>
              </a:rPr>
              <a:t>ticket ⇄ telemetry join</a:t>
            </a:r>
            <a:endParaRPr lang="en-US" sz="1150" dirty="0"/>
          </a:p>
        </p:txBody>
      </p:sp>
      <p:sp>
        <p:nvSpPr>
          <p:cNvPr id="19" name="Shape 17"/>
          <p:cNvSpPr/>
          <p:nvPr/>
        </p:nvSpPr>
        <p:spPr>
          <a:xfrm>
            <a:off x="3840480" y="2569464"/>
            <a:ext cx="320040" cy="0"/>
          </a:xfrm>
          <a:prstGeom prst="line">
            <a:avLst/>
          </a:prstGeom>
          <a:noFill/>
          <a:ln w="19050">
            <a:solidFill>
              <a:srgbClr val="7B8E99"/>
            </a:solidFill>
            <a:prstDash val="solid"/>
            <a:tailEnd type="triangle"/>
          </a:ln>
        </p:spPr>
      </p:sp>
      <p:sp>
        <p:nvSpPr>
          <p:cNvPr id="20" name="Shape 18"/>
          <p:cNvSpPr/>
          <p:nvPr/>
        </p:nvSpPr>
        <p:spPr>
          <a:xfrm>
            <a:off x="5989320" y="1600200"/>
            <a:ext cx="1280160" cy="384048"/>
          </a:xfrm>
          <a:prstGeom prst="roundRect">
            <a:avLst>
              <a:gd name="adj" fmla="val 14286"/>
            </a:avLst>
          </a:prstGeom>
          <a:solidFill>
            <a:srgbClr val="FCE9CF"/>
          </a:solidFill>
          <a:ln/>
        </p:spPr>
      </p:sp>
      <p:sp>
        <p:nvSpPr>
          <p:cNvPr id="21" name="Text 19"/>
          <p:cNvSpPr txBox="1"/>
          <p:nvPr/>
        </p:nvSpPr>
        <p:spPr>
          <a:xfrm>
            <a:off x="6080760" y="1600200"/>
            <a:ext cx="1097280" cy="38404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Experience</a:t>
            </a:r>
            <a:endParaRPr lang="en-US" sz="1150" dirty="0"/>
          </a:p>
        </p:txBody>
      </p:sp>
      <p:sp>
        <p:nvSpPr>
          <p:cNvPr id="22" name="Shape 20"/>
          <p:cNvSpPr/>
          <p:nvPr/>
        </p:nvSpPr>
        <p:spPr>
          <a:xfrm>
            <a:off x="7360920" y="1600200"/>
            <a:ext cx="1280160" cy="384048"/>
          </a:xfrm>
          <a:prstGeom prst="roundRect">
            <a:avLst>
              <a:gd name="adj" fmla="val 14286"/>
            </a:avLst>
          </a:prstGeom>
          <a:solidFill>
            <a:srgbClr val="D3EFEC"/>
          </a:solidFill>
          <a:ln/>
        </p:spPr>
      </p:sp>
      <p:sp>
        <p:nvSpPr>
          <p:cNvPr id="23" name="Text 21"/>
          <p:cNvSpPr txBox="1"/>
          <p:nvPr/>
        </p:nvSpPr>
        <p:spPr>
          <a:xfrm>
            <a:off x="7452360" y="1600200"/>
            <a:ext cx="1097280" cy="38404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Telemetry</a:t>
            </a:r>
            <a:endParaRPr lang="en-US" sz="1150" dirty="0"/>
          </a:p>
        </p:txBody>
      </p:sp>
      <p:sp>
        <p:nvSpPr>
          <p:cNvPr id="24" name="Shape 22"/>
          <p:cNvSpPr/>
          <p:nvPr/>
        </p:nvSpPr>
        <p:spPr>
          <a:xfrm>
            <a:off x="5989320" y="2057400"/>
            <a:ext cx="1280160" cy="384048"/>
          </a:xfrm>
          <a:prstGeom prst="roundRect">
            <a:avLst>
              <a:gd name="adj" fmla="val 14286"/>
            </a:avLst>
          </a:prstGeom>
          <a:solidFill>
            <a:srgbClr val="EEF5F6"/>
          </a:solidFill>
          <a:ln/>
        </p:spPr>
      </p:sp>
      <p:sp>
        <p:nvSpPr>
          <p:cNvPr id="25" name="Text 23"/>
          <p:cNvSpPr txBox="1"/>
          <p:nvPr/>
        </p:nvSpPr>
        <p:spPr>
          <a:xfrm>
            <a:off x="6080760" y="2057400"/>
            <a:ext cx="1097280" cy="38404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Correlation</a:t>
            </a:r>
            <a:endParaRPr lang="en-US" sz="1150" dirty="0"/>
          </a:p>
        </p:txBody>
      </p:sp>
      <p:sp>
        <p:nvSpPr>
          <p:cNvPr id="26" name="Shape 24"/>
          <p:cNvSpPr/>
          <p:nvPr/>
        </p:nvSpPr>
        <p:spPr>
          <a:xfrm>
            <a:off x="7360920" y="2057400"/>
            <a:ext cx="1280160" cy="384048"/>
          </a:xfrm>
          <a:prstGeom prst="roundRect">
            <a:avLst>
              <a:gd name="adj" fmla="val 14286"/>
            </a:avLst>
          </a:prstGeom>
          <a:solidFill>
            <a:srgbClr val="EEF5F6"/>
          </a:solidFill>
          <a:ln/>
        </p:spPr>
      </p:sp>
      <p:sp>
        <p:nvSpPr>
          <p:cNvPr id="27" name="Text 25"/>
          <p:cNvSpPr txBox="1"/>
          <p:nvPr/>
        </p:nvSpPr>
        <p:spPr>
          <a:xfrm>
            <a:off x="7452360" y="2057400"/>
            <a:ext cx="1097280" cy="38404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Diagnosis + ML</a:t>
            </a:r>
            <a:endParaRPr lang="en-US" sz="1150" dirty="0"/>
          </a:p>
        </p:txBody>
      </p:sp>
      <p:sp>
        <p:nvSpPr>
          <p:cNvPr id="28" name="Shape 26"/>
          <p:cNvSpPr/>
          <p:nvPr/>
        </p:nvSpPr>
        <p:spPr>
          <a:xfrm>
            <a:off x="5989320" y="2514600"/>
            <a:ext cx="1280160" cy="384048"/>
          </a:xfrm>
          <a:prstGeom prst="roundRect">
            <a:avLst>
              <a:gd name="adj" fmla="val 14286"/>
            </a:avLst>
          </a:prstGeom>
          <a:solidFill>
            <a:srgbClr val="FAD6D2"/>
          </a:solidFill>
          <a:ln/>
        </p:spPr>
      </p:sp>
      <p:sp>
        <p:nvSpPr>
          <p:cNvPr id="29" name="Text 27"/>
          <p:cNvSpPr txBox="1"/>
          <p:nvPr/>
        </p:nvSpPr>
        <p:spPr>
          <a:xfrm>
            <a:off x="6080760" y="2514600"/>
            <a:ext cx="1097280" cy="38404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Predict (ML)</a:t>
            </a:r>
            <a:endParaRPr lang="en-US" sz="1150" dirty="0"/>
          </a:p>
        </p:txBody>
      </p:sp>
      <p:sp>
        <p:nvSpPr>
          <p:cNvPr id="30" name="Shape 28"/>
          <p:cNvSpPr/>
          <p:nvPr/>
        </p:nvSpPr>
        <p:spPr>
          <a:xfrm>
            <a:off x="7360920" y="2514600"/>
            <a:ext cx="1280160" cy="384048"/>
          </a:xfrm>
          <a:prstGeom prst="roundRect">
            <a:avLst>
              <a:gd name="adj" fmla="val 14286"/>
            </a:avLst>
          </a:prstGeom>
          <a:solidFill>
            <a:srgbClr val="EEF5F6"/>
          </a:solidFill>
          <a:ln/>
        </p:spPr>
      </p:sp>
      <p:sp>
        <p:nvSpPr>
          <p:cNvPr id="31" name="Text 29"/>
          <p:cNvSpPr txBox="1"/>
          <p:nvPr/>
        </p:nvSpPr>
        <p:spPr>
          <a:xfrm>
            <a:off x="7452360" y="2514600"/>
            <a:ext cx="1097280" cy="38404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Outcomes · DEX</a:t>
            </a:r>
            <a:endParaRPr lang="en-US" sz="1150" dirty="0"/>
          </a:p>
        </p:txBody>
      </p:sp>
      <p:sp>
        <p:nvSpPr>
          <p:cNvPr id="32" name="Shape 30"/>
          <p:cNvSpPr/>
          <p:nvPr/>
        </p:nvSpPr>
        <p:spPr>
          <a:xfrm flipV="1">
            <a:off x="5669280" y="2240280"/>
            <a:ext cx="320040" cy="329184"/>
          </a:xfrm>
          <a:prstGeom prst="line">
            <a:avLst/>
          </a:prstGeom>
          <a:noFill/>
          <a:ln w="19050">
            <a:solidFill>
              <a:srgbClr val="7B8E99"/>
            </a:solidFill>
            <a:prstDash val="solid"/>
            <a:tailEnd type="triangle"/>
          </a:ln>
        </p:spPr>
      </p:sp>
      <p:sp>
        <p:nvSpPr>
          <p:cNvPr id="33" name="Shape 31"/>
          <p:cNvSpPr/>
          <p:nvPr/>
        </p:nvSpPr>
        <p:spPr>
          <a:xfrm>
            <a:off x="5989320" y="3063240"/>
            <a:ext cx="2651760" cy="457200"/>
          </a:xfrm>
          <a:prstGeom prst="roundRect">
            <a:avLst>
              <a:gd name="adj" fmla="val 12000"/>
            </a:avLst>
          </a:prstGeom>
          <a:solidFill>
            <a:srgbClr val="0F2330"/>
          </a:solidFill>
          <a:ln/>
        </p:spPr>
      </p:sp>
      <p:sp>
        <p:nvSpPr>
          <p:cNvPr id="34" name="Text 32"/>
          <p:cNvSpPr txBox="1"/>
          <p:nvPr/>
        </p:nvSpPr>
        <p:spPr>
          <a:xfrm>
            <a:off x="6080760" y="3063240"/>
            <a:ext cx="246888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FastAPI  ·  38 endpoints</a:t>
            </a:r>
            <a:endParaRPr lang="en-US" sz="1150" dirty="0"/>
          </a:p>
        </p:txBody>
      </p:sp>
      <p:sp>
        <p:nvSpPr>
          <p:cNvPr id="35" name="Shape 33"/>
          <p:cNvSpPr/>
          <p:nvPr/>
        </p:nvSpPr>
        <p:spPr>
          <a:xfrm>
            <a:off x="7315200" y="2926080"/>
            <a:ext cx="0" cy="137160"/>
          </a:xfrm>
          <a:prstGeom prst="line">
            <a:avLst/>
          </a:prstGeom>
          <a:noFill/>
          <a:ln w="19050">
            <a:solidFill>
              <a:srgbClr val="7B8E99"/>
            </a:solidFill>
            <a:prstDash val="solid"/>
            <a:tailEnd type="triangle"/>
          </a:ln>
        </p:spPr>
      </p:sp>
      <p:sp>
        <p:nvSpPr>
          <p:cNvPr id="36" name="Shape 34"/>
          <p:cNvSpPr/>
          <p:nvPr/>
        </p:nvSpPr>
        <p:spPr>
          <a:xfrm>
            <a:off x="5989320" y="3749040"/>
            <a:ext cx="1280160" cy="566928"/>
          </a:xfrm>
          <a:prstGeom prst="roundRect">
            <a:avLst>
              <a:gd name="adj" fmla="val 9677"/>
            </a:avLst>
          </a:prstGeom>
          <a:solidFill>
            <a:srgbClr val="D3EFEC"/>
          </a:solidFill>
          <a:ln/>
        </p:spPr>
      </p:sp>
      <p:sp>
        <p:nvSpPr>
          <p:cNvPr id="37" name="Text 35"/>
          <p:cNvSpPr txBox="1"/>
          <p:nvPr/>
        </p:nvSpPr>
        <p:spPr>
          <a:xfrm>
            <a:off x="6080760" y="3749040"/>
            <a:ext cx="1097280" cy="56692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React UI</a:t>
            </a:r>
            <a:endParaRPr lang="en-US" sz="1150" dirty="0"/>
          </a:p>
          <a:p>
            <a:pPr algn="ctr" indent="0" marL="0">
              <a:buNone/>
            </a:pPr>
            <a:r>
              <a:rPr lang="en-US" sz="950" dirty="0">
                <a:solidFill>
                  <a:srgbClr val="3E5260"/>
                </a:solidFill>
                <a:latin typeface="Calibri" pitchFamily="34" charset="0"/>
                <a:ea typeface="Calibri" pitchFamily="34" charset="-122"/>
                <a:cs typeface="Calibri" pitchFamily="34" charset="-120"/>
              </a:rPr>
              <a:t>12 screens</a:t>
            </a:r>
            <a:endParaRPr lang="en-US" sz="1150" dirty="0"/>
          </a:p>
        </p:txBody>
      </p:sp>
      <p:sp>
        <p:nvSpPr>
          <p:cNvPr id="38" name="Shape 36"/>
          <p:cNvSpPr/>
          <p:nvPr/>
        </p:nvSpPr>
        <p:spPr>
          <a:xfrm>
            <a:off x="7360920" y="3749040"/>
            <a:ext cx="1280160" cy="566928"/>
          </a:xfrm>
          <a:prstGeom prst="roundRect">
            <a:avLst>
              <a:gd name="adj" fmla="val 9677"/>
            </a:avLst>
          </a:prstGeom>
          <a:solidFill>
            <a:srgbClr val="FCE9CF"/>
          </a:solidFill>
          <a:ln/>
        </p:spPr>
      </p:sp>
      <p:sp>
        <p:nvSpPr>
          <p:cNvPr id="39" name="Text 37"/>
          <p:cNvSpPr txBox="1"/>
          <p:nvPr/>
        </p:nvSpPr>
        <p:spPr>
          <a:xfrm>
            <a:off x="7452360" y="3749040"/>
            <a:ext cx="1097280" cy="566928"/>
          </a:xfrm>
          <a:prstGeom prst="rect">
            <a:avLst/>
          </a:prstGeom>
          <a:noFill/>
          <a:ln/>
        </p:spPr>
        <p:txBody>
          <a:bodyPr wrap="square" lIns="0" tIns="0" rIns="0" bIns="0" rtlCol="0" anchor="ctr"/>
          <a:lstStyle/>
          <a:p>
            <a:pPr algn="ctr" indent="0" marL="0">
              <a:buNone/>
            </a:pPr>
            <a:r>
              <a:rPr lang="en-US" sz="1150" b="1" dirty="0">
                <a:solidFill>
                  <a:srgbClr val="13222C"/>
                </a:solidFill>
                <a:latin typeface="Calibri" pitchFamily="34" charset="0"/>
                <a:ea typeface="Calibri" pitchFamily="34" charset="-122"/>
                <a:cs typeface="Calibri" pitchFamily="34" charset="-120"/>
              </a:rPr>
              <a:t>DEX Copilot</a:t>
            </a:r>
            <a:endParaRPr lang="en-US" sz="1150" dirty="0"/>
          </a:p>
          <a:p>
            <a:pPr algn="ctr" indent="0" marL="0">
              <a:buNone/>
            </a:pPr>
            <a:r>
              <a:rPr lang="en-US" sz="950" dirty="0">
                <a:solidFill>
                  <a:srgbClr val="3E5260"/>
                </a:solidFill>
                <a:latin typeface="Calibri" pitchFamily="34" charset="0"/>
                <a:ea typeface="Calibri" pitchFamily="34" charset="-122"/>
                <a:cs typeface="Calibri" pitchFamily="34" charset="-120"/>
              </a:rPr>
              <a:t>Claude / offline</a:t>
            </a:r>
            <a:endParaRPr lang="en-US" sz="1150" dirty="0"/>
          </a:p>
        </p:txBody>
      </p:sp>
      <p:sp>
        <p:nvSpPr>
          <p:cNvPr id="40" name="Shape 38"/>
          <p:cNvSpPr/>
          <p:nvPr/>
        </p:nvSpPr>
        <p:spPr>
          <a:xfrm>
            <a:off x="6629400" y="3520440"/>
            <a:ext cx="0" cy="228600"/>
          </a:xfrm>
          <a:prstGeom prst="line">
            <a:avLst/>
          </a:prstGeom>
          <a:noFill/>
          <a:ln w="19050">
            <a:solidFill>
              <a:srgbClr val="7B8E99"/>
            </a:solidFill>
            <a:prstDash val="solid"/>
            <a:tailEnd type="triangle"/>
          </a:ln>
        </p:spPr>
      </p:sp>
      <p:sp>
        <p:nvSpPr>
          <p:cNvPr id="41" name="Shape 39"/>
          <p:cNvSpPr/>
          <p:nvPr/>
        </p:nvSpPr>
        <p:spPr>
          <a:xfrm>
            <a:off x="8001000" y="3520440"/>
            <a:ext cx="0" cy="228600"/>
          </a:xfrm>
          <a:prstGeom prst="line">
            <a:avLst/>
          </a:prstGeom>
          <a:noFill/>
          <a:ln w="19050">
            <a:solidFill>
              <a:srgbClr val="7B8E99"/>
            </a:solidFill>
            <a:prstDash val="solid"/>
            <a:tailEnd type="triangle"/>
          </a:ln>
        </p:spPr>
      </p:sp>
      <p:sp>
        <p:nvSpPr>
          <p:cNvPr id="42" name="Text 40"/>
          <p:cNvSpPr txBox="1"/>
          <p:nvPr/>
        </p:nvSpPr>
        <p:spPr>
          <a:xfrm>
            <a:off x="457200" y="3749040"/>
            <a:ext cx="5212080" cy="914400"/>
          </a:xfrm>
          <a:prstGeom prst="rect">
            <a:avLst/>
          </a:prstGeom>
          <a:noFill/>
          <a:ln/>
        </p:spPr>
        <p:txBody>
          <a:bodyPr wrap="square" lIns="0" tIns="0" rIns="0" bIns="0" rtlCol="0" anchor="t"/>
          <a:lstStyle/>
          <a:p>
            <a:pPr indent="0" marL="0">
              <a:spcAft>
                <a:spcPts val="200"/>
              </a:spcAft>
              <a:buNone/>
            </a:pPr>
            <a:r>
              <a:rPr lang="en-US" sz="1100" b="1" dirty="0">
                <a:solidFill>
                  <a:srgbClr val="13222C"/>
                </a:solidFill>
                <a:latin typeface="Calibri" pitchFamily="34" charset="0"/>
                <a:ea typeface="Calibri" pitchFamily="34" charset="-122"/>
                <a:cs typeface="Calibri" pitchFamily="34" charset="-120"/>
              </a:rPr>
              <a:t>Atomic dataset swap</a:t>
            </a:r>
            <a:endParaRPr lang="en-US" sz="1100" dirty="0"/>
          </a:p>
          <a:p>
            <a:pPr indent="0" marL="0">
              <a:spcAft>
                <a:spcPts val="200"/>
              </a:spcAft>
              <a:buNone/>
            </a:pPr>
            <a:r>
              <a:rPr lang="en-US" sz="1100" dirty="0">
                <a:solidFill>
                  <a:srgbClr val="3E5260"/>
                </a:solidFill>
                <a:latin typeface="Calibri" pitchFamily="34" charset="0"/>
                <a:ea typeface="Calibri" pitchFamily="34" charset="-122"/>
                <a:cs typeface="Calibri" pitchFamily="34" charset="-120"/>
              </a:rPr>
              <a:t>Uploads are built off to the side and go live only if valid.</a:t>
            </a:r>
            <a:endParaRPr lang="en-US" sz="1100" dirty="0"/>
          </a:p>
          <a:p>
            <a:pPr indent="0" marL="0">
              <a:spcAft>
                <a:spcPts val="200"/>
              </a:spcAft>
              <a:buNone/>
            </a:pPr>
            <a:r>
              <a:rPr lang="en-US" sz="1100" b="1" dirty="0">
                <a:solidFill>
                  <a:srgbClr val="13222C"/>
                </a:solidFill>
                <a:latin typeface="Calibri" pitchFamily="34" charset="0"/>
                <a:ea typeface="Calibri" pitchFamily="34" charset="-122"/>
                <a:cs typeface="Calibri" pitchFamily="34" charset="-120"/>
              </a:rPr>
              <a:t>Retrains itself</a:t>
            </a:r>
            <a:endParaRPr lang="en-US" sz="1100" dirty="0"/>
          </a:p>
          <a:p>
            <a:pPr indent="0" marL="0">
              <a:spcAft>
                <a:spcPts val="200"/>
              </a:spcAft>
              <a:buNone/>
            </a:pPr>
            <a:r>
              <a:rPr lang="en-US" sz="1100" dirty="0">
                <a:solidFill>
                  <a:srgbClr val="3E5260"/>
                </a:solidFill>
                <a:latin typeface="Calibri" pitchFamily="34" charset="0"/>
                <a:ea typeface="Calibri" pitchFamily="34" charset="-122"/>
                <a:cs typeface="Calibri" pitchFamily="34" charset="-120"/>
              </a:rPr>
              <a:t>Models and backtests refresh in the background after every upload.</a:t>
            </a:r>
            <a:endParaRPr lang="en-US" sz="1100" dirty="0"/>
          </a:p>
        </p:txBody>
      </p:sp>
      <p:sp>
        <p:nvSpPr>
          <p:cNvPr id="43" name="Text 41"/>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12 / 15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B86E0E"/>
                </a:solidFill>
                <a:latin typeface="Arial" pitchFamily="34" charset="0"/>
                <a:ea typeface="Arial" pitchFamily="34" charset="-122"/>
                <a:cs typeface="Arial" pitchFamily="34" charset="-120"/>
              </a:rPr>
              <a:t>BUILT LIKE A PRODUCT</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13222C"/>
                </a:solidFill>
                <a:latin typeface="Arial" pitchFamily="34" charset="0"/>
                <a:ea typeface="Arial" pitchFamily="34" charset="-122"/>
                <a:cs typeface="Arial" pitchFamily="34" charset="-120"/>
              </a:rPr>
              <a:t>A production-grade MVP, tested and deployable today</a:t>
            </a:r>
            <a:endParaRPr lang="en-US" sz="2600" dirty="0"/>
          </a:p>
        </p:txBody>
      </p:sp>
      <p:sp>
        <p:nvSpPr>
          <p:cNvPr id="6" name="Shape 4"/>
          <p:cNvSpPr/>
          <p:nvPr/>
        </p:nvSpPr>
        <p:spPr>
          <a:xfrm>
            <a:off x="457200" y="1600200"/>
            <a:ext cx="512064" cy="512064"/>
          </a:xfrm>
          <a:prstGeom prst="ellipse">
            <a:avLst/>
          </a:prstGeom>
          <a:solidFill>
            <a:srgbClr val="24506A"/>
          </a:solidFill>
          <a:ln/>
        </p:spPr>
      </p:sp>
      <p:pic>
        <p:nvPicPr>
          <p:cNvPr id="7" name="Image 0" descr="preencoded.png">    </p:cNvPr>
          <p:cNvPicPr>
            <a:picLocks noChangeAspect="1"/>
          </p:cNvPicPr>
          <p:nvPr/>
        </p:nvPicPr>
        <p:blipFill>
          <a:blip r:embed="rId1"/>
          <a:stretch>
            <a:fillRect/>
          </a:stretch>
        </p:blipFill>
        <p:spPr>
          <a:xfrm>
            <a:off x="580095" y="1723095"/>
            <a:ext cx="266273" cy="266273"/>
          </a:xfrm>
          <a:prstGeom prst="rect">
            <a:avLst/>
          </a:prstGeom>
        </p:spPr>
      </p:pic>
      <p:sp>
        <p:nvSpPr>
          <p:cNvPr id="8" name="Text 5"/>
          <p:cNvSpPr txBox="1"/>
          <p:nvPr/>
        </p:nvSpPr>
        <p:spPr>
          <a:xfrm>
            <a:off x="1143000" y="1591056"/>
            <a:ext cx="3474720" cy="256032"/>
          </a:xfrm>
          <a:prstGeom prst="rect">
            <a:avLst/>
          </a:prstGeom>
          <a:noFill/>
          <a:ln/>
        </p:spPr>
        <p:txBody>
          <a:bodyPr wrap="square" lIns="0" tIns="0" rIns="0" bIns="0" rtlCol="0" anchor="t"/>
          <a:lstStyle/>
          <a:p>
            <a:pPr indent="0" marL="0">
              <a:buNone/>
            </a:pPr>
            <a:r>
              <a:rPr lang="en-US" sz="1350" b="1" dirty="0">
                <a:solidFill>
                  <a:srgbClr val="13222C"/>
                </a:solidFill>
                <a:latin typeface="Calibri" pitchFamily="34" charset="0"/>
                <a:ea typeface="Calibri" pitchFamily="34" charset="-122"/>
                <a:cs typeface="Calibri" pitchFamily="34" charset="-120"/>
              </a:rPr>
              <a:t>Backend</a:t>
            </a:r>
            <a:endParaRPr lang="en-US" sz="1350" dirty="0"/>
          </a:p>
        </p:txBody>
      </p:sp>
      <p:sp>
        <p:nvSpPr>
          <p:cNvPr id="9" name="Text 6"/>
          <p:cNvSpPr txBox="1"/>
          <p:nvPr/>
        </p:nvSpPr>
        <p:spPr>
          <a:xfrm>
            <a:off x="1143000" y="1847088"/>
            <a:ext cx="3566160" cy="27432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Python · FastAPI · pandas · NumPy · SciPy</a:t>
            </a:r>
            <a:endParaRPr lang="en-US" sz="1100" dirty="0"/>
          </a:p>
        </p:txBody>
      </p:sp>
      <p:sp>
        <p:nvSpPr>
          <p:cNvPr id="10" name="Shape 7"/>
          <p:cNvSpPr/>
          <p:nvPr/>
        </p:nvSpPr>
        <p:spPr>
          <a:xfrm>
            <a:off x="457200" y="2368296"/>
            <a:ext cx="512064" cy="512064"/>
          </a:xfrm>
          <a:prstGeom prst="ellipse">
            <a:avLst/>
          </a:prstGeom>
          <a:solidFill>
            <a:srgbClr val="E4574B"/>
          </a:solidFill>
          <a:ln/>
        </p:spPr>
      </p:sp>
      <p:pic>
        <p:nvPicPr>
          <p:cNvPr id="11" name="Image 1" descr="preencoded.png">    </p:cNvPr>
          <p:cNvPicPr>
            <a:picLocks noChangeAspect="1"/>
          </p:cNvPicPr>
          <p:nvPr/>
        </p:nvPicPr>
        <p:blipFill>
          <a:blip r:embed="rId2"/>
          <a:stretch>
            <a:fillRect/>
          </a:stretch>
        </p:blipFill>
        <p:spPr>
          <a:xfrm>
            <a:off x="580095" y="2491191"/>
            <a:ext cx="266273" cy="266273"/>
          </a:xfrm>
          <a:prstGeom prst="rect">
            <a:avLst/>
          </a:prstGeom>
        </p:spPr>
      </p:pic>
      <p:sp>
        <p:nvSpPr>
          <p:cNvPr id="12" name="Text 8"/>
          <p:cNvSpPr txBox="1"/>
          <p:nvPr/>
        </p:nvSpPr>
        <p:spPr>
          <a:xfrm>
            <a:off x="1143000" y="2359152"/>
            <a:ext cx="3474720" cy="256032"/>
          </a:xfrm>
          <a:prstGeom prst="rect">
            <a:avLst/>
          </a:prstGeom>
          <a:noFill/>
          <a:ln/>
        </p:spPr>
        <p:txBody>
          <a:bodyPr wrap="square" lIns="0" tIns="0" rIns="0" bIns="0" rtlCol="0" anchor="t"/>
          <a:lstStyle/>
          <a:p>
            <a:pPr indent="0" marL="0">
              <a:buNone/>
            </a:pPr>
            <a:r>
              <a:rPr lang="en-US" sz="1350" b="1" dirty="0">
                <a:solidFill>
                  <a:srgbClr val="13222C"/>
                </a:solidFill>
                <a:latin typeface="Calibri" pitchFamily="34" charset="0"/>
                <a:ea typeface="Calibri" pitchFamily="34" charset="-122"/>
                <a:cs typeface="Calibri" pitchFamily="34" charset="-120"/>
              </a:rPr>
              <a:t>AI / ML</a:t>
            </a:r>
            <a:endParaRPr lang="en-US" sz="1350" dirty="0"/>
          </a:p>
        </p:txBody>
      </p:sp>
      <p:sp>
        <p:nvSpPr>
          <p:cNvPr id="13" name="Text 9"/>
          <p:cNvSpPr txBox="1"/>
          <p:nvPr/>
        </p:nvSpPr>
        <p:spPr>
          <a:xfrm>
            <a:off x="1143000" y="2615184"/>
            <a:ext cx="3566160" cy="27432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scikit-learn · LightGBM · Claude / Azure OpenAI · BM25 RAG</a:t>
            </a:r>
            <a:endParaRPr lang="en-US" sz="1100" dirty="0"/>
          </a:p>
        </p:txBody>
      </p:sp>
      <p:sp>
        <p:nvSpPr>
          <p:cNvPr id="14" name="Shape 10"/>
          <p:cNvSpPr/>
          <p:nvPr/>
        </p:nvSpPr>
        <p:spPr>
          <a:xfrm>
            <a:off x="457200" y="3136392"/>
            <a:ext cx="512064" cy="512064"/>
          </a:xfrm>
          <a:prstGeom prst="ellipse">
            <a:avLst/>
          </a:prstGeom>
          <a:solidFill>
            <a:srgbClr val="0B7A73"/>
          </a:solidFill>
          <a:ln/>
        </p:spPr>
      </p:sp>
      <p:pic>
        <p:nvPicPr>
          <p:cNvPr id="15" name="Image 2" descr="preencoded.png">    </p:cNvPr>
          <p:cNvPicPr>
            <a:picLocks noChangeAspect="1"/>
          </p:cNvPicPr>
          <p:nvPr/>
        </p:nvPicPr>
        <p:blipFill>
          <a:blip r:embed="rId3"/>
          <a:stretch>
            <a:fillRect/>
          </a:stretch>
        </p:blipFill>
        <p:spPr>
          <a:xfrm>
            <a:off x="580095" y="3259287"/>
            <a:ext cx="266273" cy="266273"/>
          </a:xfrm>
          <a:prstGeom prst="rect">
            <a:avLst/>
          </a:prstGeom>
        </p:spPr>
      </p:pic>
      <p:sp>
        <p:nvSpPr>
          <p:cNvPr id="16" name="Text 11"/>
          <p:cNvSpPr txBox="1"/>
          <p:nvPr/>
        </p:nvSpPr>
        <p:spPr>
          <a:xfrm>
            <a:off x="1143000" y="3127248"/>
            <a:ext cx="3474720" cy="256032"/>
          </a:xfrm>
          <a:prstGeom prst="rect">
            <a:avLst/>
          </a:prstGeom>
          <a:noFill/>
          <a:ln/>
        </p:spPr>
        <p:txBody>
          <a:bodyPr wrap="square" lIns="0" tIns="0" rIns="0" bIns="0" rtlCol="0" anchor="t"/>
          <a:lstStyle/>
          <a:p>
            <a:pPr indent="0" marL="0">
              <a:buNone/>
            </a:pPr>
            <a:r>
              <a:rPr lang="en-US" sz="1350" b="1" dirty="0">
                <a:solidFill>
                  <a:srgbClr val="13222C"/>
                </a:solidFill>
                <a:latin typeface="Calibri" pitchFamily="34" charset="0"/>
                <a:ea typeface="Calibri" pitchFamily="34" charset="-122"/>
                <a:cs typeface="Calibri" pitchFamily="34" charset="-120"/>
              </a:rPr>
              <a:t>Frontend</a:t>
            </a:r>
            <a:endParaRPr lang="en-US" sz="1350" dirty="0"/>
          </a:p>
        </p:txBody>
      </p:sp>
      <p:sp>
        <p:nvSpPr>
          <p:cNvPr id="17" name="Text 12"/>
          <p:cNvSpPr txBox="1"/>
          <p:nvPr/>
        </p:nvSpPr>
        <p:spPr>
          <a:xfrm>
            <a:off x="1143000" y="3383280"/>
            <a:ext cx="3566160" cy="27432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React 18 · TypeScript · Vite · TanStack Query · Recharts</a:t>
            </a:r>
            <a:endParaRPr lang="en-US" sz="1100" dirty="0"/>
          </a:p>
        </p:txBody>
      </p:sp>
      <p:sp>
        <p:nvSpPr>
          <p:cNvPr id="18" name="Shape 13"/>
          <p:cNvSpPr/>
          <p:nvPr/>
        </p:nvSpPr>
        <p:spPr>
          <a:xfrm>
            <a:off x="457200" y="3904488"/>
            <a:ext cx="512064" cy="512064"/>
          </a:xfrm>
          <a:prstGeom prst="ellipse">
            <a:avLst/>
          </a:prstGeom>
          <a:solidFill>
            <a:srgbClr val="B86E0E"/>
          </a:solidFill>
          <a:ln/>
        </p:spPr>
      </p:sp>
      <p:pic>
        <p:nvPicPr>
          <p:cNvPr id="19" name="Image 3" descr="preencoded.png">    </p:cNvPr>
          <p:cNvPicPr>
            <a:picLocks noChangeAspect="1"/>
          </p:cNvPicPr>
          <p:nvPr/>
        </p:nvPicPr>
        <p:blipFill>
          <a:blip r:embed="rId4"/>
          <a:stretch>
            <a:fillRect/>
          </a:stretch>
        </p:blipFill>
        <p:spPr>
          <a:xfrm>
            <a:off x="580095" y="4027383"/>
            <a:ext cx="266273" cy="266273"/>
          </a:xfrm>
          <a:prstGeom prst="rect">
            <a:avLst/>
          </a:prstGeom>
        </p:spPr>
      </p:pic>
      <p:sp>
        <p:nvSpPr>
          <p:cNvPr id="20" name="Text 14"/>
          <p:cNvSpPr txBox="1"/>
          <p:nvPr/>
        </p:nvSpPr>
        <p:spPr>
          <a:xfrm>
            <a:off x="1143000" y="3895344"/>
            <a:ext cx="3474720" cy="256032"/>
          </a:xfrm>
          <a:prstGeom prst="rect">
            <a:avLst/>
          </a:prstGeom>
          <a:noFill/>
          <a:ln/>
        </p:spPr>
        <p:txBody>
          <a:bodyPr wrap="square" lIns="0" tIns="0" rIns="0" bIns="0" rtlCol="0" anchor="t"/>
          <a:lstStyle/>
          <a:p>
            <a:pPr indent="0" marL="0">
              <a:buNone/>
            </a:pPr>
            <a:r>
              <a:rPr lang="en-US" sz="1350" b="1" dirty="0">
                <a:solidFill>
                  <a:srgbClr val="13222C"/>
                </a:solidFill>
                <a:latin typeface="Calibri" pitchFamily="34" charset="0"/>
                <a:ea typeface="Calibri" pitchFamily="34" charset="-122"/>
                <a:cs typeface="Calibri" pitchFamily="34" charset="-120"/>
              </a:rPr>
              <a:t>Delivery</a:t>
            </a:r>
            <a:endParaRPr lang="en-US" sz="1350" dirty="0"/>
          </a:p>
        </p:txBody>
      </p:sp>
      <p:sp>
        <p:nvSpPr>
          <p:cNvPr id="21" name="Text 15"/>
          <p:cNvSpPr txBox="1"/>
          <p:nvPr/>
        </p:nvSpPr>
        <p:spPr>
          <a:xfrm>
            <a:off x="1143000" y="4151376"/>
            <a:ext cx="3566160" cy="27432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Docker · Google Cloud Run · SQLite / Postgres</a:t>
            </a:r>
            <a:endParaRPr lang="en-US" sz="1100" dirty="0"/>
          </a:p>
        </p:txBody>
      </p:sp>
      <p:sp>
        <p:nvSpPr>
          <p:cNvPr id="22" name="Shape 16"/>
          <p:cNvSpPr/>
          <p:nvPr/>
        </p:nvSpPr>
        <p:spPr>
          <a:xfrm>
            <a:off x="5029200" y="1572768"/>
            <a:ext cx="1737360" cy="1389888"/>
          </a:xfrm>
          <a:prstGeom prst="roundRect">
            <a:avLst>
              <a:gd name="adj" fmla="val 5263"/>
            </a:avLst>
          </a:prstGeom>
          <a:solidFill>
            <a:srgbClr val="EEF5F6"/>
          </a:solidFill>
          <a:ln/>
        </p:spPr>
      </p:sp>
      <p:sp>
        <p:nvSpPr>
          <p:cNvPr id="23" name="Text 17"/>
          <p:cNvSpPr txBox="1"/>
          <p:nvPr/>
        </p:nvSpPr>
        <p:spPr>
          <a:xfrm>
            <a:off x="5166360" y="1682496"/>
            <a:ext cx="1508760" cy="548640"/>
          </a:xfrm>
          <a:prstGeom prst="rect">
            <a:avLst/>
          </a:prstGeom>
          <a:noFill/>
          <a:ln/>
        </p:spPr>
        <p:txBody>
          <a:bodyPr wrap="square" lIns="0" tIns="0" rIns="0" bIns="0" rtlCol="0" anchor="t"/>
          <a:lstStyle/>
          <a:p>
            <a:pPr indent="0" marL="0">
              <a:buNone/>
            </a:pPr>
            <a:r>
              <a:rPr lang="en-US" sz="3000" b="1" dirty="0">
                <a:solidFill>
                  <a:srgbClr val="0B7A73"/>
                </a:solidFill>
                <a:latin typeface="Arial" pitchFamily="34" charset="0"/>
                <a:ea typeface="Arial" pitchFamily="34" charset="-122"/>
                <a:cs typeface="Arial" pitchFamily="34" charset="-120"/>
              </a:rPr>
              <a:t>81</a:t>
            </a:r>
            <a:endParaRPr lang="en-US" sz="3000" dirty="0"/>
          </a:p>
        </p:txBody>
      </p:sp>
      <p:sp>
        <p:nvSpPr>
          <p:cNvPr id="24" name="Text 18"/>
          <p:cNvSpPr txBox="1"/>
          <p:nvPr/>
        </p:nvSpPr>
        <p:spPr>
          <a:xfrm>
            <a:off x="5166360" y="2231136"/>
            <a:ext cx="1508760" cy="685800"/>
          </a:xfrm>
          <a:prstGeom prst="rect">
            <a:avLst/>
          </a:prstGeom>
          <a:noFill/>
          <a:ln/>
        </p:spPr>
        <p:txBody>
          <a:bodyPr wrap="square" lIns="0" tIns="0" rIns="0" bIns="0" rtlCol="0" anchor="t"/>
          <a:lstStyle/>
          <a:p>
            <a:pPr indent="0" marL="0">
              <a:buNone/>
            </a:pPr>
            <a:r>
              <a:rPr lang="en-US" sz="1000" dirty="0">
                <a:solidFill>
                  <a:srgbClr val="3E5260"/>
                </a:solidFill>
                <a:latin typeface="Calibri" pitchFamily="34" charset="0"/>
                <a:ea typeface="Calibri" pitchFamily="34" charset="-122"/>
                <a:cs typeface="Calibri" pitchFamily="34" charset="-120"/>
              </a:rPr>
              <a:t>automated tests, including golden figures, a leakage test and ML-beats-rules</a:t>
            </a:r>
            <a:endParaRPr lang="en-US" sz="1000" dirty="0"/>
          </a:p>
        </p:txBody>
      </p:sp>
      <p:sp>
        <p:nvSpPr>
          <p:cNvPr id="25" name="Shape 19"/>
          <p:cNvSpPr/>
          <p:nvPr/>
        </p:nvSpPr>
        <p:spPr>
          <a:xfrm>
            <a:off x="6903720" y="1572768"/>
            <a:ext cx="1737360" cy="1389888"/>
          </a:xfrm>
          <a:prstGeom prst="roundRect">
            <a:avLst>
              <a:gd name="adj" fmla="val 5263"/>
            </a:avLst>
          </a:prstGeom>
          <a:solidFill>
            <a:srgbClr val="EEF5F6"/>
          </a:solidFill>
          <a:ln/>
        </p:spPr>
      </p:sp>
      <p:sp>
        <p:nvSpPr>
          <p:cNvPr id="26" name="Text 20"/>
          <p:cNvSpPr txBox="1"/>
          <p:nvPr/>
        </p:nvSpPr>
        <p:spPr>
          <a:xfrm>
            <a:off x="7040880" y="1682496"/>
            <a:ext cx="1508760" cy="548640"/>
          </a:xfrm>
          <a:prstGeom prst="rect">
            <a:avLst/>
          </a:prstGeom>
          <a:noFill/>
          <a:ln/>
        </p:spPr>
        <p:txBody>
          <a:bodyPr wrap="square" lIns="0" tIns="0" rIns="0" bIns="0" rtlCol="0" anchor="t"/>
          <a:lstStyle/>
          <a:p>
            <a:pPr indent="0" marL="0">
              <a:buNone/>
            </a:pPr>
            <a:r>
              <a:rPr lang="en-US" sz="3000" b="1" dirty="0">
                <a:solidFill>
                  <a:srgbClr val="0B7A73"/>
                </a:solidFill>
                <a:latin typeface="Arial" pitchFamily="34" charset="0"/>
                <a:ea typeface="Arial" pitchFamily="34" charset="-122"/>
                <a:cs typeface="Arial" pitchFamily="34" charset="-120"/>
              </a:rPr>
              <a:t>80 s</a:t>
            </a:r>
            <a:endParaRPr lang="en-US" sz="3000" dirty="0"/>
          </a:p>
        </p:txBody>
      </p:sp>
      <p:sp>
        <p:nvSpPr>
          <p:cNvPr id="27" name="Text 21"/>
          <p:cNvSpPr txBox="1"/>
          <p:nvPr/>
        </p:nvSpPr>
        <p:spPr>
          <a:xfrm>
            <a:off x="7040880" y="2231136"/>
            <a:ext cx="1508760" cy="685800"/>
          </a:xfrm>
          <a:prstGeom prst="rect">
            <a:avLst/>
          </a:prstGeom>
          <a:noFill/>
          <a:ln/>
        </p:spPr>
        <p:txBody>
          <a:bodyPr wrap="square" lIns="0" tIns="0" rIns="0" bIns="0" rtlCol="0" anchor="t"/>
          <a:lstStyle/>
          <a:p>
            <a:pPr indent="0" marL="0">
              <a:buNone/>
            </a:pPr>
            <a:r>
              <a:rPr lang="en-US" sz="1000" dirty="0">
                <a:solidFill>
                  <a:srgbClr val="3E5260"/>
                </a:solidFill>
                <a:latin typeface="Calibri" pitchFamily="34" charset="0"/>
                <a:ea typeface="Calibri" pitchFamily="34" charset="-122"/>
                <a:cs typeface="Calibri" pitchFamily="34" charset="-120"/>
              </a:rPr>
              <a:t>to analyse a 163 MB upload of 2.34 M device-weeks</a:t>
            </a:r>
            <a:endParaRPr lang="en-US" sz="1000" dirty="0"/>
          </a:p>
        </p:txBody>
      </p:sp>
      <p:sp>
        <p:nvSpPr>
          <p:cNvPr id="28" name="Shape 22"/>
          <p:cNvSpPr/>
          <p:nvPr/>
        </p:nvSpPr>
        <p:spPr>
          <a:xfrm>
            <a:off x="5029200" y="3108960"/>
            <a:ext cx="1737360" cy="1389888"/>
          </a:xfrm>
          <a:prstGeom prst="roundRect">
            <a:avLst>
              <a:gd name="adj" fmla="val 5263"/>
            </a:avLst>
          </a:prstGeom>
          <a:solidFill>
            <a:srgbClr val="EEF5F6"/>
          </a:solidFill>
          <a:ln/>
        </p:spPr>
      </p:sp>
      <p:sp>
        <p:nvSpPr>
          <p:cNvPr id="29" name="Text 23"/>
          <p:cNvSpPr txBox="1"/>
          <p:nvPr/>
        </p:nvSpPr>
        <p:spPr>
          <a:xfrm>
            <a:off x="5166360" y="3218688"/>
            <a:ext cx="1508760" cy="548640"/>
          </a:xfrm>
          <a:prstGeom prst="rect">
            <a:avLst/>
          </a:prstGeom>
          <a:noFill/>
          <a:ln/>
        </p:spPr>
        <p:txBody>
          <a:bodyPr wrap="square" lIns="0" tIns="0" rIns="0" bIns="0" rtlCol="0" anchor="t"/>
          <a:lstStyle/>
          <a:p>
            <a:pPr indent="0" marL="0">
              <a:buNone/>
            </a:pPr>
            <a:r>
              <a:rPr lang="en-US" sz="3000" b="1" dirty="0">
                <a:solidFill>
                  <a:srgbClr val="0B7A73"/>
                </a:solidFill>
                <a:latin typeface="Arial" pitchFamily="34" charset="0"/>
                <a:ea typeface="Arial" pitchFamily="34" charset="-122"/>
                <a:cs typeface="Arial" pitchFamily="34" charset="-120"/>
              </a:rPr>
              <a:t>30 s</a:t>
            </a:r>
            <a:endParaRPr lang="en-US" sz="3000" dirty="0"/>
          </a:p>
        </p:txBody>
      </p:sp>
      <p:sp>
        <p:nvSpPr>
          <p:cNvPr id="30" name="Text 24"/>
          <p:cNvSpPr txBox="1"/>
          <p:nvPr/>
        </p:nvSpPr>
        <p:spPr>
          <a:xfrm>
            <a:off x="5166360" y="3767328"/>
            <a:ext cx="1508760" cy="685800"/>
          </a:xfrm>
          <a:prstGeom prst="rect">
            <a:avLst/>
          </a:prstGeom>
          <a:noFill/>
          <a:ln/>
        </p:spPr>
        <p:txBody>
          <a:bodyPr wrap="square" lIns="0" tIns="0" rIns="0" bIns="0" rtlCol="0" anchor="t"/>
          <a:lstStyle/>
          <a:p>
            <a:pPr indent="0" marL="0">
              <a:buNone/>
            </a:pPr>
            <a:r>
              <a:rPr lang="en-US" sz="1000" dirty="0">
                <a:solidFill>
                  <a:srgbClr val="3E5260"/>
                </a:solidFill>
                <a:latin typeface="Calibri" pitchFamily="34" charset="0"/>
                <a:ea typeface="Calibri" pitchFamily="34" charset="-122"/>
                <a:cs typeface="Calibri" pitchFamily="34" charset="-120"/>
              </a:rPr>
              <a:t>to backtest and retrain the model on 130,000 device-weeks</a:t>
            </a:r>
            <a:endParaRPr lang="en-US" sz="1000" dirty="0"/>
          </a:p>
        </p:txBody>
      </p:sp>
      <p:sp>
        <p:nvSpPr>
          <p:cNvPr id="31" name="Shape 25"/>
          <p:cNvSpPr/>
          <p:nvPr/>
        </p:nvSpPr>
        <p:spPr>
          <a:xfrm>
            <a:off x="6903720" y="3108960"/>
            <a:ext cx="1737360" cy="1389888"/>
          </a:xfrm>
          <a:prstGeom prst="roundRect">
            <a:avLst>
              <a:gd name="adj" fmla="val 5263"/>
            </a:avLst>
          </a:prstGeom>
          <a:solidFill>
            <a:srgbClr val="EEF5F6"/>
          </a:solidFill>
          <a:ln/>
        </p:spPr>
      </p:sp>
      <p:sp>
        <p:nvSpPr>
          <p:cNvPr id="32" name="Text 26"/>
          <p:cNvSpPr txBox="1"/>
          <p:nvPr/>
        </p:nvSpPr>
        <p:spPr>
          <a:xfrm>
            <a:off x="7040880" y="3218688"/>
            <a:ext cx="1508760" cy="548640"/>
          </a:xfrm>
          <a:prstGeom prst="rect">
            <a:avLst/>
          </a:prstGeom>
          <a:noFill/>
          <a:ln/>
        </p:spPr>
        <p:txBody>
          <a:bodyPr wrap="square" lIns="0" tIns="0" rIns="0" bIns="0" rtlCol="0" anchor="t"/>
          <a:lstStyle/>
          <a:p>
            <a:pPr indent="0" marL="0">
              <a:buNone/>
            </a:pPr>
            <a:r>
              <a:rPr lang="en-US" sz="3000" b="1" dirty="0">
                <a:solidFill>
                  <a:srgbClr val="0B7A73"/>
                </a:solidFill>
                <a:latin typeface="Arial" pitchFamily="34" charset="0"/>
                <a:ea typeface="Arial" pitchFamily="34" charset="-122"/>
                <a:cs typeface="Arial" pitchFamily="34" charset="-120"/>
              </a:rPr>
              <a:t>0</a:t>
            </a:r>
            <a:endParaRPr lang="en-US" sz="3000" dirty="0"/>
          </a:p>
        </p:txBody>
      </p:sp>
      <p:sp>
        <p:nvSpPr>
          <p:cNvPr id="33" name="Text 27"/>
          <p:cNvSpPr txBox="1"/>
          <p:nvPr/>
        </p:nvSpPr>
        <p:spPr>
          <a:xfrm>
            <a:off x="7040880" y="3767328"/>
            <a:ext cx="1508760" cy="685800"/>
          </a:xfrm>
          <a:prstGeom prst="rect">
            <a:avLst/>
          </a:prstGeom>
          <a:noFill/>
          <a:ln/>
        </p:spPr>
        <p:txBody>
          <a:bodyPr wrap="square" lIns="0" tIns="0" rIns="0" bIns="0" rtlCol="0" anchor="t"/>
          <a:lstStyle/>
          <a:p>
            <a:pPr indent="0" marL="0">
              <a:buNone/>
            </a:pPr>
            <a:r>
              <a:rPr lang="en-US" sz="1000" dirty="0">
                <a:solidFill>
                  <a:srgbClr val="3E5260"/>
                </a:solidFill>
                <a:latin typeface="Calibri" pitchFamily="34" charset="0"/>
                <a:ea typeface="Calibri" pitchFamily="34" charset="-122"/>
                <a:cs typeface="Calibri" pitchFamily="34" charset="-120"/>
              </a:rPr>
              <a:t>bytes leave the server in offline mode; no AI key required</a:t>
            </a:r>
            <a:endParaRPr lang="en-US" sz="1000" dirty="0"/>
          </a:p>
        </p:txBody>
      </p:sp>
      <p:sp>
        <p:nvSpPr>
          <p:cNvPr id="34" name="Text 28"/>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13 / 15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B86E0E"/>
                </a:solidFill>
                <a:latin typeface="Arial" pitchFamily="34" charset="0"/>
                <a:ea typeface="Arial" pitchFamily="34" charset="-122"/>
                <a:cs typeface="Arial" pitchFamily="34" charset="-120"/>
              </a:rPr>
              <a:t>WHY DEX SENTINEL</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13222C"/>
                </a:solidFill>
                <a:latin typeface="Arial" pitchFamily="34" charset="0"/>
                <a:ea typeface="Arial" pitchFamily="34" charset="-122"/>
                <a:cs typeface="Arial" pitchFamily="34" charset="-120"/>
              </a:rPr>
              <a:t>Built to score on every criterion</a:t>
            </a:r>
            <a:endParaRPr lang="en-US" sz="2600" dirty="0"/>
          </a:p>
        </p:txBody>
      </p:sp>
      <p:sp>
        <p:nvSpPr>
          <p:cNvPr id="6" name="Shape 4"/>
          <p:cNvSpPr/>
          <p:nvPr/>
        </p:nvSpPr>
        <p:spPr>
          <a:xfrm>
            <a:off x="457200" y="1600200"/>
            <a:ext cx="2606040" cy="1417320"/>
          </a:xfrm>
          <a:prstGeom prst="roundRect">
            <a:avLst>
              <a:gd name="adj" fmla="val 5161"/>
            </a:avLst>
          </a:prstGeom>
          <a:solidFill>
            <a:srgbClr val="EEF5F6"/>
          </a:solidFill>
          <a:ln/>
        </p:spPr>
      </p:sp>
      <p:sp>
        <p:nvSpPr>
          <p:cNvPr id="7" name="Shape 5"/>
          <p:cNvSpPr/>
          <p:nvPr/>
        </p:nvSpPr>
        <p:spPr>
          <a:xfrm>
            <a:off x="640080" y="1783080"/>
            <a:ext cx="457200" cy="457200"/>
          </a:xfrm>
          <a:prstGeom prst="ellipse">
            <a:avLst/>
          </a:prstGeom>
          <a:solidFill>
            <a:srgbClr val="E4574B"/>
          </a:solidFill>
          <a:ln/>
        </p:spPr>
      </p:sp>
      <p:pic>
        <p:nvPicPr>
          <p:cNvPr id="8" name="Image 0" descr="preencoded.png">    </p:cNvPr>
          <p:cNvPicPr>
            <a:picLocks noChangeAspect="1"/>
          </p:cNvPicPr>
          <p:nvPr/>
        </p:nvPicPr>
        <p:blipFill>
          <a:blip r:embed="rId1"/>
          <a:stretch>
            <a:fillRect/>
          </a:stretch>
        </p:blipFill>
        <p:spPr>
          <a:xfrm>
            <a:off x="749808" y="1892808"/>
            <a:ext cx="237744" cy="237744"/>
          </a:xfrm>
          <a:prstGeom prst="rect">
            <a:avLst/>
          </a:prstGeom>
        </p:spPr>
      </p:pic>
      <p:sp>
        <p:nvSpPr>
          <p:cNvPr id="9" name="Text 6"/>
          <p:cNvSpPr txBox="1"/>
          <p:nvPr/>
        </p:nvSpPr>
        <p:spPr>
          <a:xfrm>
            <a:off x="1234440" y="1847088"/>
            <a:ext cx="1737360" cy="320040"/>
          </a:xfrm>
          <a:prstGeom prst="rect">
            <a:avLst/>
          </a:prstGeom>
          <a:noFill/>
          <a:ln/>
        </p:spPr>
        <p:txBody>
          <a:bodyPr wrap="square" lIns="0" tIns="0" rIns="0" bIns="0" rtlCol="0" anchor="t"/>
          <a:lstStyle/>
          <a:p>
            <a:pPr indent="0" marL="0">
              <a:buNone/>
            </a:pPr>
            <a:r>
              <a:rPr lang="en-US" sz="1400" b="1" dirty="0">
                <a:solidFill>
                  <a:srgbClr val="13222C"/>
                </a:solidFill>
                <a:latin typeface="Arial" pitchFamily="34" charset="0"/>
                <a:ea typeface="Arial" pitchFamily="34" charset="-122"/>
                <a:cs typeface="Arial" pitchFamily="34" charset="-120"/>
              </a:rPr>
              <a:t>Innovation</a:t>
            </a:r>
            <a:endParaRPr lang="en-US" sz="1400" dirty="0"/>
          </a:p>
        </p:txBody>
      </p:sp>
      <p:sp>
        <p:nvSpPr>
          <p:cNvPr id="10" name="Text 7"/>
          <p:cNvSpPr txBox="1"/>
          <p:nvPr/>
        </p:nvSpPr>
        <p:spPr>
          <a:xfrm>
            <a:off x="640080" y="2331720"/>
            <a:ext cx="2286000" cy="64008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Predictive DEX: forecast frustration from telemetry trends, explained and priced</a:t>
            </a:r>
            <a:endParaRPr lang="en-US" sz="1100" dirty="0"/>
          </a:p>
        </p:txBody>
      </p:sp>
      <p:sp>
        <p:nvSpPr>
          <p:cNvPr id="11" name="Shape 8"/>
          <p:cNvSpPr/>
          <p:nvPr/>
        </p:nvSpPr>
        <p:spPr>
          <a:xfrm>
            <a:off x="3246120" y="1600200"/>
            <a:ext cx="2606040" cy="1417320"/>
          </a:xfrm>
          <a:prstGeom prst="roundRect">
            <a:avLst>
              <a:gd name="adj" fmla="val 5161"/>
            </a:avLst>
          </a:prstGeom>
          <a:solidFill>
            <a:srgbClr val="EEF5F6"/>
          </a:solidFill>
          <a:ln/>
        </p:spPr>
      </p:sp>
      <p:sp>
        <p:nvSpPr>
          <p:cNvPr id="12" name="Shape 9"/>
          <p:cNvSpPr/>
          <p:nvPr/>
        </p:nvSpPr>
        <p:spPr>
          <a:xfrm>
            <a:off x="3429000" y="1783080"/>
            <a:ext cx="457200" cy="457200"/>
          </a:xfrm>
          <a:prstGeom prst="ellipse">
            <a:avLst/>
          </a:prstGeom>
          <a:solidFill>
            <a:srgbClr val="24506A"/>
          </a:solidFill>
          <a:ln/>
        </p:spPr>
      </p:sp>
      <p:pic>
        <p:nvPicPr>
          <p:cNvPr id="13" name="Image 1" descr="preencoded.png">    </p:cNvPr>
          <p:cNvPicPr>
            <a:picLocks noChangeAspect="1"/>
          </p:cNvPicPr>
          <p:nvPr/>
        </p:nvPicPr>
        <p:blipFill>
          <a:blip r:embed="rId2"/>
          <a:stretch>
            <a:fillRect/>
          </a:stretch>
        </p:blipFill>
        <p:spPr>
          <a:xfrm>
            <a:off x="3538728" y="1892808"/>
            <a:ext cx="237744" cy="237744"/>
          </a:xfrm>
          <a:prstGeom prst="rect">
            <a:avLst/>
          </a:prstGeom>
        </p:spPr>
      </p:pic>
      <p:sp>
        <p:nvSpPr>
          <p:cNvPr id="14" name="Text 10"/>
          <p:cNvSpPr txBox="1"/>
          <p:nvPr/>
        </p:nvSpPr>
        <p:spPr>
          <a:xfrm>
            <a:off x="4023360" y="1847088"/>
            <a:ext cx="1737360" cy="320040"/>
          </a:xfrm>
          <a:prstGeom prst="rect">
            <a:avLst/>
          </a:prstGeom>
          <a:noFill/>
          <a:ln/>
        </p:spPr>
        <p:txBody>
          <a:bodyPr wrap="square" lIns="0" tIns="0" rIns="0" bIns="0" rtlCol="0" anchor="t"/>
          <a:lstStyle/>
          <a:p>
            <a:pPr indent="0" marL="0">
              <a:buNone/>
            </a:pPr>
            <a:r>
              <a:rPr lang="en-US" sz="1400" b="1" dirty="0">
                <a:solidFill>
                  <a:srgbClr val="13222C"/>
                </a:solidFill>
                <a:latin typeface="Arial" pitchFamily="34" charset="0"/>
                <a:ea typeface="Arial" pitchFamily="34" charset="-122"/>
                <a:cs typeface="Arial" pitchFamily="34" charset="-120"/>
              </a:rPr>
              <a:t>Technical depth</a:t>
            </a:r>
            <a:endParaRPr lang="en-US" sz="1400" dirty="0"/>
          </a:p>
        </p:txBody>
      </p:sp>
      <p:sp>
        <p:nvSpPr>
          <p:cNvPr id="15" name="Text 11"/>
          <p:cNvSpPr txBox="1"/>
          <p:nvPr/>
        </p:nvSpPr>
        <p:spPr>
          <a:xfrm>
            <a:off x="3429000" y="2331720"/>
            <a:ext cx="2286000" cy="64008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Fusion engine, leakage-safe ML with calibration, agentic LLM with RAG</a:t>
            </a:r>
            <a:endParaRPr lang="en-US" sz="1100" dirty="0"/>
          </a:p>
        </p:txBody>
      </p:sp>
      <p:sp>
        <p:nvSpPr>
          <p:cNvPr id="16" name="Shape 12"/>
          <p:cNvSpPr/>
          <p:nvPr/>
        </p:nvSpPr>
        <p:spPr>
          <a:xfrm>
            <a:off x="6035040" y="1600200"/>
            <a:ext cx="2606040" cy="1417320"/>
          </a:xfrm>
          <a:prstGeom prst="roundRect">
            <a:avLst>
              <a:gd name="adj" fmla="val 5161"/>
            </a:avLst>
          </a:prstGeom>
          <a:solidFill>
            <a:srgbClr val="EEF5F6"/>
          </a:solidFill>
          <a:ln/>
        </p:spPr>
      </p:sp>
      <p:sp>
        <p:nvSpPr>
          <p:cNvPr id="17" name="Shape 13"/>
          <p:cNvSpPr/>
          <p:nvPr/>
        </p:nvSpPr>
        <p:spPr>
          <a:xfrm>
            <a:off x="6217920" y="1783080"/>
            <a:ext cx="457200" cy="457200"/>
          </a:xfrm>
          <a:prstGeom prst="ellipse">
            <a:avLst/>
          </a:prstGeom>
          <a:solidFill>
            <a:srgbClr val="B86E0E"/>
          </a:solidFill>
          <a:ln/>
        </p:spPr>
      </p:sp>
      <p:pic>
        <p:nvPicPr>
          <p:cNvPr id="18" name="Image 2" descr="preencoded.png">    </p:cNvPr>
          <p:cNvPicPr>
            <a:picLocks noChangeAspect="1"/>
          </p:cNvPicPr>
          <p:nvPr/>
        </p:nvPicPr>
        <p:blipFill>
          <a:blip r:embed="rId3"/>
          <a:stretch>
            <a:fillRect/>
          </a:stretch>
        </p:blipFill>
        <p:spPr>
          <a:xfrm>
            <a:off x="6327648" y="1892808"/>
            <a:ext cx="237744" cy="237744"/>
          </a:xfrm>
          <a:prstGeom prst="rect">
            <a:avLst/>
          </a:prstGeom>
        </p:spPr>
      </p:pic>
      <p:sp>
        <p:nvSpPr>
          <p:cNvPr id="19" name="Text 14"/>
          <p:cNvSpPr txBox="1"/>
          <p:nvPr/>
        </p:nvSpPr>
        <p:spPr>
          <a:xfrm>
            <a:off x="6812280" y="1847088"/>
            <a:ext cx="1737360" cy="320040"/>
          </a:xfrm>
          <a:prstGeom prst="rect">
            <a:avLst/>
          </a:prstGeom>
          <a:noFill/>
          <a:ln/>
        </p:spPr>
        <p:txBody>
          <a:bodyPr wrap="square" lIns="0" tIns="0" rIns="0" bIns="0" rtlCol="0" anchor="t"/>
          <a:lstStyle/>
          <a:p>
            <a:pPr indent="0" marL="0">
              <a:buNone/>
            </a:pPr>
            <a:r>
              <a:rPr lang="en-US" sz="1400" b="1" dirty="0">
                <a:solidFill>
                  <a:srgbClr val="13222C"/>
                </a:solidFill>
                <a:latin typeface="Arial" pitchFamily="34" charset="0"/>
                <a:ea typeface="Arial" pitchFamily="34" charset="-122"/>
                <a:cs typeface="Arial" pitchFamily="34" charset="-120"/>
              </a:rPr>
              <a:t>Impact</a:t>
            </a:r>
            <a:endParaRPr lang="en-US" sz="1400" dirty="0"/>
          </a:p>
        </p:txBody>
      </p:sp>
      <p:sp>
        <p:nvSpPr>
          <p:cNvPr id="20" name="Text 15"/>
          <p:cNvSpPr txBox="1"/>
          <p:nvPr/>
        </p:nvSpPr>
        <p:spPr>
          <a:xfrm>
            <a:off x="6217920" y="2331720"/>
            <a:ext cx="2286000" cy="64008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72% vs 49% caught early · +36.9% recovery · $115k/yr proven</a:t>
            </a:r>
            <a:endParaRPr lang="en-US" sz="1100" dirty="0"/>
          </a:p>
        </p:txBody>
      </p:sp>
      <p:sp>
        <p:nvSpPr>
          <p:cNvPr id="21" name="Shape 16"/>
          <p:cNvSpPr/>
          <p:nvPr/>
        </p:nvSpPr>
        <p:spPr>
          <a:xfrm>
            <a:off x="457200" y="3154680"/>
            <a:ext cx="2606040" cy="1417320"/>
          </a:xfrm>
          <a:prstGeom prst="roundRect">
            <a:avLst>
              <a:gd name="adj" fmla="val 5161"/>
            </a:avLst>
          </a:prstGeom>
          <a:solidFill>
            <a:srgbClr val="EEF5F6"/>
          </a:solidFill>
          <a:ln/>
        </p:spPr>
      </p:sp>
      <p:sp>
        <p:nvSpPr>
          <p:cNvPr id="22" name="Shape 17"/>
          <p:cNvSpPr/>
          <p:nvPr/>
        </p:nvSpPr>
        <p:spPr>
          <a:xfrm>
            <a:off x="640080" y="3337560"/>
            <a:ext cx="457200" cy="457200"/>
          </a:xfrm>
          <a:prstGeom prst="ellipse">
            <a:avLst/>
          </a:prstGeom>
          <a:solidFill>
            <a:srgbClr val="0B7A73"/>
          </a:solidFill>
          <a:ln/>
        </p:spPr>
      </p:sp>
      <p:pic>
        <p:nvPicPr>
          <p:cNvPr id="23" name="Image 3" descr="preencoded.png">    </p:cNvPr>
          <p:cNvPicPr>
            <a:picLocks noChangeAspect="1"/>
          </p:cNvPicPr>
          <p:nvPr/>
        </p:nvPicPr>
        <p:blipFill>
          <a:blip r:embed="rId4"/>
          <a:stretch>
            <a:fillRect/>
          </a:stretch>
        </p:blipFill>
        <p:spPr>
          <a:xfrm>
            <a:off x="749808" y="3447288"/>
            <a:ext cx="237744" cy="237744"/>
          </a:xfrm>
          <a:prstGeom prst="rect">
            <a:avLst/>
          </a:prstGeom>
        </p:spPr>
      </p:pic>
      <p:sp>
        <p:nvSpPr>
          <p:cNvPr id="24" name="Text 18"/>
          <p:cNvSpPr txBox="1"/>
          <p:nvPr/>
        </p:nvSpPr>
        <p:spPr>
          <a:xfrm>
            <a:off x="1234440" y="3401568"/>
            <a:ext cx="1737360" cy="320040"/>
          </a:xfrm>
          <a:prstGeom prst="rect">
            <a:avLst/>
          </a:prstGeom>
          <a:noFill/>
          <a:ln/>
        </p:spPr>
        <p:txBody>
          <a:bodyPr wrap="square" lIns="0" tIns="0" rIns="0" bIns="0" rtlCol="0" anchor="t"/>
          <a:lstStyle/>
          <a:p>
            <a:pPr indent="0" marL="0">
              <a:buNone/>
            </a:pPr>
            <a:r>
              <a:rPr lang="en-US" sz="1400" b="1" dirty="0">
                <a:solidFill>
                  <a:srgbClr val="13222C"/>
                </a:solidFill>
                <a:latin typeface="Arial" pitchFamily="34" charset="0"/>
                <a:ea typeface="Arial" pitchFamily="34" charset="-122"/>
                <a:cs typeface="Arial" pitchFamily="34" charset="-120"/>
              </a:rPr>
              <a:t>Feasibility</a:t>
            </a:r>
            <a:endParaRPr lang="en-US" sz="1400" dirty="0"/>
          </a:p>
        </p:txBody>
      </p:sp>
      <p:sp>
        <p:nvSpPr>
          <p:cNvPr id="25" name="Text 19"/>
          <p:cNvSpPr txBox="1"/>
          <p:nvPr/>
        </p:nvSpPr>
        <p:spPr>
          <a:xfrm>
            <a:off x="640080" y="3886200"/>
            <a:ext cx="2286000" cy="64008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Any .xlsx/.csv export, 163 MB in 80 s, one container, offline mode</a:t>
            </a:r>
            <a:endParaRPr lang="en-US" sz="1100" dirty="0"/>
          </a:p>
        </p:txBody>
      </p:sp>
      <p:sp>
        <p:nvSpPr>
          <p:cNvPr id="26" name="Shape 20"/>
          <p:cNvSpPr/>
          <p:nvPr/>
        </p:nvSpPr>
        <p:spPr>
          <a:xfrm>
            <a:off x="3246120" y="3154680"/>
            <a:ext cx="2606040" cy="1417320"/>
          </a:xfrm>
          <a:prstGeom prst="roundRect">
            <a:avLst>
              <a:gd name="adj" fmla="val 5161"/>
            </a:avLst>
          </a:prstGeom>
          <a:solidFill>
            <a:srgbClr val="EEF5F6"/>
          </a:solidFill>
          <a:ln/>
        </p:spPr>
      </p:sp>
      <p:sp>
        <p:nvSpPr>
          <p:cNvPr id="27" name="Shape 21"/>
          <p:cNvSpPr/>
          <p:nvPr/>
        </p:nvSpPr>
        <p:spPr>
          <a:xfrm>
            <a:off x="3429000" y="3337560"/>
            <a:ext cx="457200" cy="457200"/>
          </a:xfrm>
          <a:prstGeom prst="ellipse">
            <a:avLst/>
          </a:prstGeom>
          <a:solidFill>
            <a:srgbClr val="14A89E"/>
          </a:solidFill>
          <a:ln/>
        </p:spPr>
      </p:sp>
      <p:pic>
        <p:nvPicPr>
          <p:cNvPr id="28" name="Image 4" descr="preencoded.png">    </p:cNvPr>
          <p:cNvPicPr>
            <a:picLocks noChangeAspect="1"/>
          </p:cNvPicPr>
          <p:nvPr/>
        </p:nvPicPr>
        <p:blipFill>
          <a:blip r:embed="rId5"/>
          <a:stretch>
            <a:fillRect/>
          </a:stretch>
        </p:blipFill>
        <p:spPr>
          <a:xfrm>
            <a:off x="3538728" y="3447288"/>
            <a:ext cx="237744" cy="237744"/>
          </a:xfrm>
          <a:prstGeom prst="rect">
            <a:avLst/>
          </a:prstGeom>
        </p:spPr>
      </p:pic>
      <p:sp>
        <p:nvSpPr>
          <p:cNvPr id="29" name="Text 22"/>
          <p:cNvSpPr txBox="1"/>
          <p:nvPr/>
        </p:nvSpPr>
        <p:spPr>
          <a:xfrm>
            <a:off x="4023360" y="3401568"/>
            <a:ext cx="1737360" cy="320040"/>
          </a:xfrm>
          <a:prstGeom prst="rect">
            <a:avLst/>
          </a:prstGeom>
          <a:noFill/>
          <a:ln/>
        </p:spPr>
        <p:txBody>
          <a:bodyPr wrap="square" lIns="0" tIns="0" rIns="0" bIns="0" rtlCol="0" anchor="t"/>
          <a:lstStyle/>
          <a:p>
            <a:pPr indent="0" marL="0">
              <a:buNone/>
            </a:pPr>
            <a:r>
              <a:rPr lang="en-US" sz="1400" b="1" dirty="0">
                <a:solidFill>
                  <a:srgbClr val="13222C"/>
                </a:solidFill>
                <a:latin typeface="Arial" pitchFamily="34" charset="0"/>
                <a:ea typeface="Arial" pitchFamily="34" charset="-122"/>
                <a:cs typeface="Arial" pitchFamily="34" charset="-120"/>
              </a:rPr>
              <a:t>User experience</a:t>
            </a:r>
            <a:endParaRPr lang="en-US" sz="1400" dirty="0"/>
          </a:p>
        </p:txBody>
      </p:sp>
      <p:sp>
        <p:nvSpPr>
          <p:cNvPr id="30" name="Text 23"/>
          <p:cNvSpPr txBox="1"/>
          <p:nvPr/>
        </p:nvSpPr>
        <p:spPr>
          <a:xfrm>
            <a:off x="3429000" y="3886200"/>
            <a:ext cx="2286000" cy="64008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Dashboard → watchlist → device → diagnosis → Copilot in clicks</a:t>
            </a:r>
            <a:endParaRPr lang="en-US" sz="1100" dirty="0"/>
          </a:p>
        </p:txBody>
      </p:sp>
      <p:sp>
        <p:nvSpPr>
          <p:cNvPr id="31" name="Shape 24"/>
          <p:cNvSpPr/>
          <p:nvPr/>
        </p:nvSpPr>
        <p:spPr>
          <a:xfrm>
            <a:off x="6035040" y="3154680"/>
            <a:ext cx="2606040" cy="1417320"/>
          </a:xfrm>
          <a:prstGeom prst="roundRect">
            <a:avLst>
              <a:gd name="adj" fmla="val 5161"/>
            </a:avLst>
          </a:prstGeom>
          <a:solidFill>
            <a:srgbClr val="EEF5F6"/>
          </a:solidFill>
          <a:ln/>
        </p:spPr>
      </p:sp>
      <p:sp>
        <p:nvSpPr>
          <p:cNvPr id="32" name="Shape 25"/>
          <p:cNvSpPr/>
          <p:nvPr/>
        </p:nvSpPr>
        <p:spPr>
          <a:xfrm>
            <a:off x="6217920" y="3337560"/>
            <a:ext cx="457200" cy="457200"/>
          </a:xfrm>
          <a:prstGeom prst="ellipse">
            <a:avLst/>
          </a:prstGeom>
          <a:solidFill>
            <a:srgbClr val="F2A33A"/>
          </a:solidFill>
          <a:ln/>
        </p:spPr>
      </p:sp>
      <p:pic>
        <p:nvPicPr>
          <p:cNvPr id="33" name="Image 5" descr="preencoded.png">    </p:cNvPr>
          <p:cNvPicPr>
            <a:picLocks noChangeAspect="1"/>
          </p:cNvPicPr>
          <p:nvPr/>
        </p:nvPicPr>
        <p:blipFill>
          <a:blip r:embed="rId6"/>
          <a:stretch>
            <a:fillRect/>
          </a:stretch>
        </p:blipFill>
        <p:spPr>
          <a:xfrm>
            <a:off x="6327648" y="3447288"/>
            <a:ext cx="237744" cy="237744"/>
          </a:xfrm>
          <a:prstGeom prst="rect">
            <a:avLst/>
          </a:prstGeom>
        </p:spPr>
      </p:pic>
      <p:sp>
        <p:nvSpPr>
          <p:cNvPr id="34" name="Text 26"/>
          <p:cNvSpPr txBox="1"/>
          <p:nvPr/>
        </p:nvSpPr>
        <p:spPr>
          <a:xfrm>
            <a:off x="6812280" y="3401568"/>
            <a:ext cx="1737360" cy="320040"/>
          </a:xfrm>
          <a:prstGeom prst="rect">
            <a:avLst/>
          </a:prstGeom>
          <a:noFill/>
          <a:ln/>
        </p:spPr>
        <p:txBody>
          <a:bodyPr wrap="square" lIns="0" tIns="0" rIns="0" bIns="0" rtlCol="0" anchor="t"/>
          <a:lstStyle/>
          <a:p>
            <a:pPr indent="0" marL="0">
              <a:buNone/>
            </a:pPr>
            <a:r>
              <a:rPr lang="en-US" sz="1400" b="1" dirty="0">
                <a:solidFill>
                  <a:srgbClr val="13222C"/>
                </a:solidFill>
                <a:latin typeface="Arial" pitchFamily="34" charset="0"/>
                <a:ea typeface="Arial" pitchFamily="34" charset="-122"/>
                <a:cs typeface="Arial" pitchFamily="34" charset="-120"/>
              </a:rPr>
              <a:t>Quality</a:t>
            </a:r>
            <a:endParaRPr lang="en-US" sz="1400" dirty="0"/>
          </a:p>
        </p:txBody>
      </p:sp>
      <p:sp>
        <p:nvSpPr>
          <p:cNvPr id="35" name="Text 27"/>
          <p:cNvSpPr txBox="1"/>
          <p:nvPr/>
        </p:nvSpPr>
        <p:spPr>
          <a:xfrm>
            <a:off x="6217920" y="3886200"/>
            <a:ext cx="2286000" cy="640080"/>
          </a:xfrm>
          <a:prstGeom prst="rect">
            <a:avLst/>
          </a:prstGeom>
          <a:noFill/>
          <a:ln/>
        </p:spPr>
        <p:txBody>
          <a:bodyPr wrap="square" lIns="0" tIns="0" rIns="0" bIns="0" rtlCol="0" anchor="t"/>
          <a:lstStyle/>
          <a:p>
            <a:pPr indent="0" marL="0">
              <a:buNone/>
            </a:pPr>
            <a:r>
              <a:rPr lang="en-US" sz="1100" dirty="0">
                <a:solidFill>
                  <a:srgbClr val="3E5260"/>
                </a:solidFill>
                <a:latin typeface="Calibri" pitchFamily="34" charset="0"/>
                <a:ea typeface="Calibri" pitchFamily="34" charset="-122"/>
                <a:cs typeface="Calibri" pitchFamily="34" charset="-120"/>
              </a:rPr>
              <a:t>12 screens, 38 APIs, 81 tests, full documentation</a:t>
            </a:r>
            <a:endParaRPr lang="en-US" sz="1100" dirty="0"/>
          </a:p>
        </p:txBody>
      </p:sp>
      <p:sp>
        <p:nvSpPr>
          <p:cNvPr id="36" name="Text 28"/>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14 / 15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330"/>
        </a:solidFill>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F2A33A">
              <a:alpha val="90000"/>
            </a:srgbClr>
          </a:solidFill>
          <a:ln/>
        </p:spPr>
      </p:sp>
      <p:sp>
        <p:nvSpPr>
          <p:cNvPr id="3" name="Shape 1"/>
          <p:cNvSpPr/>
          <p:nvPr/>
        </p:nvSpPr>
        <p:spPr>
          <a:xfrm>
            <a:off x="537667" y="384048"/>
            <a:ext cx="146304" cy="146304"/>
          </a:xfrm>
          <a:prstGeom prst="ellipse">
            <a:avLst/>
          </a:prstGeom>
          <a:solidFill>
            <a:srgbClr val="14A89E">
              <a:alpha val="75000"/>
            </a:srgbClr>
          </a:solidFill>
          <a:ln/>
        </p:spPr>
      </p:sp>
      <p:sp>
        <p:nvSpPr>
          <p:cNvPr id="4" name="Text 2"/>
          <p:cNvSpPr txBox="1"/>
          <p:nvPr/>
        </p:nvSpPr>
        <p:spPr>
          <a:xfrm>
            <a:off x="822960" y="347472"/>
            <a:ext cx="7772400" cy="228600"/>
          </a:xfrm>
          <a:prstGeom prst="rect">
            <a:avLst/>
          </a:prstGeom>
          <a:noFill/>
          <a:ln/>
        </p:spPr>
        <p:txBody>
          <a:bodyPr wrap="square" lIns="0" tIns="0" rIns="0" bIns="0" rtlCol="0" anchor="t"/>
          <a:lstStyle/>
          <a:p>
            <a:pPr indent="0" marL="0">
              <a:buNone/>
            </a:pPr>
            <a:r>
              <a:rPr lang="en-US" sz="1000" b="1" spc="300" kern="0" dirty="0">
                <a:solidFill>
                  <a:srgbClr val="F2A33A"/>
                </a:solidFill>
                <a:latin typeface="Arial" pitchFamily="34" charset="0"/>
                <a:ea typeface="Arial" pitchFamily="34" charset="-122"/>
                <a:cs typeface="Arial" pitchFamily="34" charset="-120"/>
              </a:rPr>
              <a:t>WHAT'S NEXT</a:t>
            </a:r>
            <a:endParaRPr lang="en-US" sz="1000" dirty="0"/>
          </a:p>
        </p:txBody>
      </p:sp>
      <p:sp>
        <p:nvSpPr>
          <p:cNvPr id="5" name="Text 3"/>
          <p:cNvSpPr txBox="1"/>
          <p:nvPr/>
        </p:nvSpPr>
        <p:spPr>
          <a:xfrm>
            <a:off x="457200" y="64008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From MVP to an always-on experience guardian</a:t>
            </a:r>
            <a:endParaRPr lang="en-US" sz="2600" dirty="0"/>
          </a:p>
        </p:txBody>
      </p:sp>
      <p:sp>
        <p:nvSpPr>
          <p:cNvPr id="6" name="Shape 4"/>
          <p:cNvSpPr/>
          <p:nvPr/>
        </p:nvSpPr>
        <p:spPr>
          <a:xfrm>
            <a:off x="457200" y="1645920"/>
            <a:ext cx="548640" cy="548640"/>
          </a:xfrm>
          <a:prstGeom prst="ellipse">
            <a:avLst/>
          </a:prstGeom>
          <a:solidFill>
            <a:srgbClr val="B86E0E"/>
          </a:solidFill>
          <a:ln/>
        </p:spPr>
      </p:sp>
      <p:pic>
        <p:nvPicPr>
          <p:cNvPr id="7" name="Image 0" descr="preencoded.png">    </p:cNvPr>
          <p:cNvPicPr>
            <a:picLocks noChangeAspect="1"/>
          </p:cNvPicPr>
          <p:nvPr/>
        </p:nvPicPr>
        <p:blipFill>
          <a:blip r:embed="rId1"/>
          <a:stretch>
            <a:fillRect/>
          </a:stretch>
        </p:blipFill>
        <p:spPr>
          <a:xfrm>
            <a:off x="588874" y="1777594"/>
            <a:ext cx="285293" cy="285293"/>
          </a:xfrm>
          <a:prstGeom prst="rect">
            <a:avLst/>
          </a:prstGeom>
        </p:spPr>
      </p:pic>
      <p:sp>
        <p:nvSpPr>
          <p:cNvPr id="8" name="Shape 5"/>
          <p:cNvSpPr/>
          <p:nvPr/>
        </p:nvSpPr>
        <p:spPr>
          <a:xfrm>
            <a:off x="1097280" y="1920240"/>
            <a:ext cx="1371600" cy="0"/>
          </a:xfrm>
          <a:prstGeom prst="line">
            <a:avLst/>
          </a:prstGeom>
          <a:noFill/>
          <a:ln w="19050">
            <a:solidFill>
              <a:srgbClr val="24506A"/>
            </a:solidFill>
            <a:prstDash val="dash"/>
          </a:ln>
        </p:spPr>
      </p:sp>
      <p:sp>
        <p:nvSpPr>
          <p:cNvPr id="9" name="Text 6"/>
          <p:cNvSpPr txBox="1"/>
          <p:nvPr/>
        </p:nvSpPr>
        <p:spPr>
          <a:xfrm>
            <a:off x="457200" y="2331720"/>
            <a:ext cx="1920240"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Pilot</a:t>
            </a:r>
            <a:endParaRPr lang="en-US" sz="1350" dirty="0"/>
          </a:p>
        </p:txBody>
      </p:sp>
      <p:sp>
        <p:nvSpPr>
          <p:cNvPr id="10" name="Text 7"/>
          <p:cNvSpPr txBox="1"/>
          <p:nvPr/>
        </p:nvSpPr>
        <p:spPr>
          <a:xfrm>
            <a:off x="457200" y="2651760"/>
            <a:ext cx="1874520" cy="777240"/>
          </a:xfrm>
          <a:prstGeom prst="rect">
            <a:avLst/>
          </a:prstGeom>
          <a:noFill/>
          <a:ln/>
        </p:spPr>
        <p:txBody>
          <a:bodyPr wrap="square" lIns="0" tIns="0" rIns="0" bIns="0" rtlCol="0" anchor="t"/>
          <a:lstStyle/>
          <a:p>
            <a:pPr indent="0" marL="0">
              <a:buNone/>
            </a:pPr>
            <a:r>
              <a:rPr lang="en-US" sz="1050" dirty="0">
                <a:solidFill>
                  <a:srgbClr val="C9DCE3"/>
                </a:solidFill>
                <a:latin typeface="Calibri" pitchFamily="34" charset="0"/>
                <a:ea typeface="Calibri" pitchFamily="34" charset="-122"/>
                <a:cs typeface="Calibri" pitchFamily="34" charset="-120"/>
              </a:rPr>
              <a:t>Real exports from one business unit; the built-in backtest reports real accuracy in week 1</a:t>
            </a:r>
            <a:endParaRPr lang="en-US" sz="1050" dirty="0"/>
          </a:p>
        </p:txBody>
      </p:sp>
      <p:sp>
        <p:nvSpPr>
          <p:cNvPr id="11" name="Shape 8"/>
          <p:cNvSpPr/>
          <p:nvPr/>
        </p:nvSpPr>
        <p:spPr>
          <a:xfrm>
            <a:off x="2560320" y="1645920"/>
            <a:ext cx="548640" cy="548640"/>
          </a:xfrm>
          <a:prstGeom prst="ellipse">
            <a:avLst/>
          </a:prstGeom>
          <a:solidFill>
            <a:srgbClr val="14A89E"/>
          </a:solidFill>
          <a:ln/>
        </p:spPr>
      </p:sp>
      <p:pic>
        <p:nvPicPr>
          <p:cNvPr id="12" name="Image 1" descr="preencoded.png">    </p:cNvPr>
          <p:cNvPicPr>
            <a:picLocks noChangeAspect="1"/>
          </p:cNvPicPr>
          <p:nvPr/>
        </p:nvPicPr>
        <p:blipFill>
          <a:blip r:embed="rId2"/>
          <a:stretch>
            <a:fillRect/>
          </a:stretch>
        </p:blipFill>
        <p:spPr>
          <a:xfrm>
            <a:off x="2691994" y="1777594"/>
            <a:ext cx="285293" cy="285293"/>
          </a:xfrm>
          <a:prstGeom prst="rect">
            <a:avLst/>
          </a:prstGeom>
        </p:spPr>
      </p:pic>
      <p:sp>
        <p:nvSpPr>
          <p:cNvPr id="13" name="Shape 9"/>
          <p:cNvSpPr/>
          <p:nvPr/>
        </p:nvSpPr>
        <p:spPr>
          <a:xfrm>
            <a:off x="3200400" y="1920240"/>
            <a:ext cx="1371600" cy="0"/>
          </a:xfrm>
          <a:prstGeom prst="line">
            <a:avLst/>
          </a:prstGeom>
          <a:noFill/>
          <a:ln w="19050">
            <a:solidFill>
              <a:srgbClr val="24506A"/>
            </a:solidFill>
            <a:prstDash val="dash"/>
          </a:ln>
        </p:spPr>
      </p:sp>
      <p:sp>
        <p:nvSpPr>
          <p:cNvPr id="14" name="Text 10"/>
          <p:cNvSpPr txBox="1"/>
          <p:nvPr/>
        </p:nvSpPr>
        <p:spPr>
          <a:xfrm>
            <a:off x="2560320" y="2331720"/>
            <a:ext cx="1920240"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Live connectors</a:t>
            </a:r>
            <a:endParaRPr lang="en-US" sz="1350" dirty="0"/>
          </a:p>
        </p:txBody>
      </p:sp>
      <p:sp>
        <p:nvSpPr>
          <p:cNvPr id="15" name="Text 11"/>
          <p:cNvSpPr txBox="1"/>
          <p:nvPr/>
        </p:nvSpPr>
        <p:spPr>
          <a:xfrm>
            <a:off x="2560320" y="2651760"/>
            <a:ext cx="1874520" cy="777240"/>
          </a:xfrm>
          <a:prstGeom prst="rect">
            <a:avLst/>
          </a:prstGeom>
          <a:noFill/>
          <a:ln/>
        </p:spPr>
        <p:txBody>
          <a:bodyPr wrap="square" lIns="0" tIns="0" rIns="0" bIns="0" rtlCol="0" anchor="t"/>
          <a:lstStyle/>
          <a:p>
            <a:pPr indent="0" marL="0">
              <a:buNone/>
            </a:pPr>
            <a:r>
              <a:rPr lang="en-US" sz="1050" dirty="0">
                <a:solidFill>
                  <a:srgbClr val="C9DCE3"/>
                </a:solidFill>
                <a:latin typeface="Calibri" pitchFamily="34" charset="0"/>
                <a:ea typeface="Calibri" pitchFamily="34" charset="-122"/>
                <a:cs typeface="Calibri" pitchFamily="34" charset="-120"/>
              </a:rPr>
              <a:t>ServiceNow, Intune, Nexthink and Teams transcripts</a:t>
            </a:r>
            <a:endParaRPr lang="en-US" sz="1050" dirty="0"/>
          </a:p>
        </p:txBody>
      </p:sp>
      <p:sp>
        <p:nvSpPr>
          <p:cNvPr id="16" name="Shape 12"/>
          <p:cNvSpPr/>
          <p:nvPr/>
        </p:nvSpPr>
        <p:spPr>
          <a:xfrm>
            <a:off x="4663440" y="1645920"/>
            <a:ext cx="548640" cy="548640"/>
          </a:xfrm>
          <a:prstGeom prst="ellipse">
            <a:avLst/>
          </a:prstGeom>
          <a:solidFill>
            <a:srgbClr val="14A89E"/>
          </a:solidFill>
          <a:ln/>
        </p:spPr>
      </p:sp>
      <p:pic>
        <p:nvPicPr>
          <p:cNvPr id="17" name="Image 2" descr="preencoded.png">    </p:cNvPr>
          <p:cNvPicPr>
            <a:picLocks noChangeAspect="1"/>
          </p:cNvPicPr>
          <p:nvPr/>
        </p:nvPicPr>
        <p:blipFill>
          <a:blip r:embed="rId3"/>
          <a:stretch>
            <a:fillRect/>
          </a:stretch>
        </p:blipFill>
        <p:spPr>
          <a:xfrm>
            <a:off x="4795114" y="1777594"/>
            <a:ext cx="285293" cy="285293"/>
          </a:xfrm>
          <a:prstGeom prst="rect">
            <a:avLst/>
          </a:prstGeom>
        </p:spPr>
      </p:pic>
      <p:sp>
        <p:nvSpPr>
          <p:cNvPr id="18" name="Shape 13"/>
          <p:cNvSpPr/>
          <p:nvPr/>
        </p:nvSpPr>
        <p:spPr>
          <a:xfrm>
            <a:off x="5303520" y="1920240"/>
            <a:ext cx="1371600" cy="0"/>
          </a:xfrm>
          <a:prstGeom prst="line">
            <a:avLst/>
          </a:prstGeom>
          <a:noFill/>
          <a:ln w="19050">
            <a:solidFill>
              <a:srgbClr val="24506A"/>
            </a:solidFill>
            <a:prstDash val="dash"/>
          </a:ln>
        </p:spPr>
      </p:sp>
      <p:sp>
        <p:nvSpPr>
          <p:cNvPr id="19" name="Text 14"/>
          <p:cNvSpPr txBox="1"/>
          <p:nvPr/>
        </p:nvSpPr>
        <p:spPr>
          <a:xfrm>
            <a:off x="4663440" y="2331720"/>
            <a:ext cx="1920240"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AI text understanding</a:t>
            </a:r>
            <a:endParaRPr lang="en-US" sz="1350" dirty="0"/>
          </a:p>
        </p:txBody>
      </p:sp>
      <p:sp>
        <p:nvSpPr>
          <p:cNvPr id="20" name="Text 15"/>
          <p:cNvSpPr txBox="1"/>
          <p:nvPr/>
        </p:nvSpPr>
        <p:spPr>
          <a:xfrm>
            <a:off x="4663440" y="2651760"/>
            <a:ext cx="1874520" cy="777240"/>
          </a:xfrm>
          <a:prstGeom prst="rect">
            <a:avLst/>
          </a:prstGeom>
          <a:noFill/>
          <a:ln/>
        </p:spPr>
        <p:txBody>
          <a:bodyPr wrap="square" lIns="0" tIns="0" rIns="0" bIns="0" rtlCol="0" anchor="t"/>
          <a:lstStyle/>
          <a:p>
            <a:pPr indent="0" marL="0">
              <a:buNone/>
            </a:pPr>
            <a:r>
              <a:rPr lang="en-US" sz="1050" dirty="0">
                <a:solidFill>
                  <a:srgbClr val="C9DCE3"/>
                </a:solidFill>
                <a:latin typeface="Calibri" pitchFamily="34" charset="0"/>
                <a:ea typeface="Calibri" pitchFamily="34" charset="-122"/>
                <a:cs typeface="Calibri" pitchFamily="34" charset="-120"/>
              </a:rPr>
              <a:t>Claude-labelled, multilingual sentiment with the lexicon as a fallback</a:t>
            </a:r>
            <a:endParaRPr lang="en-US" sz="1050" dirty="0"/>
          </a:p>
        </p:txBody>
      </p:sp>
      <p:sp>
        <p:nvSpPr>
          <p:cNvPr id="21" name="Shape 16"/>
          <p:cNvSpPr/>
          <p:nvPr/>
        </p:nvSpPr>
        <p:spPr>
          <a:xfrm>
            <a:off x="6766560" y="1645920"/>
            <a:ext cx="548640" cy="548640"/>
          </a:xfrm>
          <a:prstGeom prst="ellipse">
            <a:avLst/>
          </a:prstGeom>
          <a:solidFill>
            <a:srgbClr val="14A89E"/>
          </a:solidFill>
          <a:ln/>
        </p:spPr>
      </p:sp>
      <p:pic>
        <p:nvPicPr>
          <p:cNvPr id="22" name="Image 3" descr="preencoded.png">    </p:cNvPr>
          <p:cNvPicPr>
            <a:picLocks noChangeAspect="1"/>
          </p:cNvPicPr>
          <p:nvPr/>
        </p:nvPicPr>
        <p:blipFill>
          <a:blip r:embed="rId4"/>
          <a:stretch>
            <a:fillRect/>
          </a:stretch>
        </p:blipFill>
        <p:spPr>
          <a:xfrm>
            <a:off x="6898234" y="1777594"/>
            <a:ext cx="285293" cy="285293"/>
          </a:xfrm>
          <a:prstGeom prst="rect">
            <a:avLst/>
          </a:prstGeom>
        </p:spPr>
      </p:pic>
      <p:sp>
        <p:nvSpPr>
          <p:cNvPr id="23" name="Text 17"/>
          <p:cNvSpPr txBox="1"/>
          <p:nvPr/>
        </p:nvSpPr>
        <p:spPr>
          <a:xfrm>
            <a:off x="6766560" y="2331720"/>
            <a:ext cx="1920240"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Closed-loop fixes</a:t>
            </a:r>
            <a:endParaRPr lang="en-US" sz="1350" dirty="0"/>
          </a:p>
        </p:txBody>
      </p:sp>
      <p:sp>
        <p:nvSpPr>
          <p:cNvPr id="24" name="Text 18"/>
          <p:cNvSpPr txBox="1"/>
          <p:nvPr/>
        </p:nvSpPr>
        <p:spPr>
          <a:xfrm>
            <a:off x="6766560" y="2651760"/>
            <a:ext cx="1874520" cy="777240"/>
          </a:xfrm>
          <a:prstGeom prst="rect">
            <a:avLst/>
          </a:prstGeom>
          <a:noFill/>
          <a:ln/>
        </p:spPr>
        <p:txBody>
          <a:bodyPr wrap="square" lIns="0" tIns="0" rIns="0" bIns="0" rtlCol="0" anchor="t"/>
          <a:lstStyle/>
          <a:p>
            <a:pPr indent="0" marL="0">
              <a:buNone/>
            </a:pPr>
            <a:r>
              <a:rPr lang="en-US" sz="1050" dirty="0">
                <a:solidFill>
                  <a:srgbClr val="C9DCE3"/>
                </a:solidFill>
                <a:latin typeface="Calibri" pitchFamily="34" charset="0"/>
                <a:ea typeface="Calibri" pitchFamily="34" charset="-122"/>
                <a:cs typeface="Calibri" pitchFamily="34" charset="-120"/>
              </a:rPr>
              <a:t>One-click proactive remediation with human approval</a:t>
            </a:r>
            <a:endParaRPr lang="en-US" sz="1050" dirty="0"/>
          </a:p>
        </p:txBody>
      </p:sp>
      <p:sp>
        <p:nvSpPr>
          <p:cNvPr id="25" name="Shape 19"/>
          <p:cNvSpPr/>
          <p:nvPr/>
        </p:nvSpPr>
        <p:spPr>
          <a:xfrm>
            <a:off x="457200" y="3474720"/>
            <a:ext cx="8229600" cy="1234440"/>
          </a:xfrm>
          <a:prstGeom prst="roundRect">
            <a:avLst>
              <a:gd name="adj" fmla="val 5926"/>
            </a:avLst>
          </a:prstGeom>
          <a:solidFill>
            <a:srgbClr val="18384A"/>
          </a:solidFill>
          <a:ln/>
        </p:spPr>
      </p:sp>
      <p:sp>
        <p:nvSpPr>
          <p:cNvPr id="26" name="Shape 20"/>
          <p:cNvSpPr/>
          <p:nvPr/>
        </p:nvSpPr>
        <p:spPr>
          <a:xfrm>
            <a:off x="685800" y="3840480"/>
            <a:ext cx="457200" cy="457200"/>
          </a:xfrm>
          <a:prstGeom prst="ellipse">
            <a:avLst/>
          </a:prstGeom>
          <a:solidFill>
            <a:srgbClr val="F2A33A">
              <a:alpha val="90000"/>
            </a:srgbClr>
          </a:solidFill>
          <a:ln/>
        </p:spPr>
      </p:sp>
      <p:sp>
        <p:nvSpPr>
          <p:cNvPr id="27" name="Shape 21"/>
          <p:cNvSpPr/>
          <p:nvPr/>
        </p:nvSpPr>
        <p:spPr>
          <a:xfrm>
            <a:off x="937260" y="3840480"/>
            <a:ext cx="457200" cy="457200"/>
          </a:xfrm>
          <a:prstGeom prst="ellipse">
            <a:avLst/>
          </a:prstGeom>
          <a:solidFill>
            <a:srgbClr val="14A89E">
              <a:alpha val="75000"/>
            </a:srgbClr>
          </a:solidFill>
          <a:ln/>
        </p:spPr>
      </p:sp>
      <p:sp>
        <p:nvSpPr>
          <p:cNvPr id="28" name="Text 22"/>
          <p:cNvSpPr txBox="1"/>
          <p:nvPr/>
        </p:nvSpPr>
        <p:spPr>
          <a:xfrm>
            <a:off x="1737360" y="3547872"/>
            <a:ext cx="6766560" cy="6858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Fuse the signal. Predict the pain.</a:t>
            </a:r>
            <a:endParaRPr lang="en-US" sz="1900" dirty="0"/>
          </a:p>
          <a:p>
            <a:pPr indent="0" marL="0">
              <a:buNone/>
            </a:pPr>
            <a:r>
              <a:rPr lang="en-US" sz="1900" b="1" dirty="0">
                <a:solidFill>
                  <a:srgbClr val="FFFFFF"/>
                </a:solidFill>
                <a:latin typeface="Arial" pitchFamily="34" charset="0"/>
                <a:ea typeface="Arial" pitchFamily="34" charset="-122"/>
                <a:cs typeface="Arial" pitchFamily="34" charset="-120"/>
              </a:rPr>
              <a:t>Fix it first. Prove it worked.</a:t>
            </a:r>
            <a:endParaRPr lang="en-US" sz="1900" dirty="0"/>
          </a:p>
        </p:txBody>
      </p:sp>
      <p:sp>
        <p:nvSpPr>
          <p:cNvPr id="29" name="Text 23"/>
          <p:cNvSpPr txBox="1"/>
          <p:nvPr/>
        </p:nvSpPr>
        <p:spPr>
          <a:xfrm>
            <a:off x="1737360" y="4261104"/>
            <a:ext cx="6766560" cy="347472"/>
          </a:xfrm>
          <a:prstGeom prst="rect">
            <a:avLst/>
          </a:prstGeom>
          <a:noFill/>
          <a:ln/>
        </p:spPr>
        <p:txBody>
          <a:bodyPr wrap="square" lIns="0" tIns="0" rIns="0" bIns="0" rtlCol="0" anchor="ctr"/>
          <a:lstStyle/>
          <a:p>
            <a:pPr indent="0" marL="0">
              <a:buNone/>
            </a:pPr>
            <a:r>
              <a:rPr lang="en-US" sz="1300" b="1" dirty="0">
                <a:solidFill>
                  <a:srgbClr val="F2A33A"/>
                </a:solidFill>
                <a:latin typeface="Calibri" pitchFamily="34" charset="0"/>
                <a:ea typeface="Calibri" pitchFamily="34" charset="-122"/>
                <a:cs typeface="Calibri" pitchFamily="34" charset="-120"/>
              </a:rPr>
              <a:t>Our ask: </a:t>
            </a:r>
            <a:pPr indent="0" marL="0">
              <a:buNone/>
            </a:pPr>
            <a:r>
              <a:rPr lang="en-US" sz="1300" dirty="0">
                <a:solidFill>
                  <a:srgbClr val="C9DCE3"/>
                </a:solidFill>
                <a:latin typeface="Calibri" pitchFamily="34" charset="0"/>
                <a:ea typeface="Calibri" pitchFamily="34" charset="-122"/>
                <a:cs typeface="Calibri" pitchFamily="34" charset="-120"/>
              </a:rPr>
              <a:t>a pilot with one business unit. DEX Sentinel · Fix it before they call.</a:t>
            </a:r>
            <a:endParaRPr lang="en-US" sz="1300" dirty="0"/>
          </a:p>
        </p:txBody>
      </p:sp>
      <p:sp>
        <p:nvSpPr>
          <p:cNvPr id="30" name="Text 24"/>
          <p:cNvSpPr txBox="1"/>
          <p:nvPr/>
        </p:nvSpPr>
        <p:spPr>
          <a:xfrm>
            <a:off x="6949440" y="4828032"/>
            <a:ext cx="1737360" cy="182880"/>
          </a:xfrm>
          <a:prstGeom prst="rect">
            <a:avLst/>
          </a:prstGeom>
          <a:noFill/>
          <a:ln/>
        </p:spPr>
        <p:txBody>
          <a:bodyPr wrap="square" lIns="0" tIns="0" rIns="0" bIns="0" rtlCol="0" anchor="t"/>
          <a:lstStyle/>
          <a:p>
            <a:pPr algn="r" indent="0" marL="0">
              <a:buNone/>
            </a:pPr>
            <a:r>
              <a:rPr lang="en-US" sz="800" dirty="0">
                <a:solidFill>
                  <a:srgbClr val="7B8E99"/>
                </a:solidFill>
                <a:latin typeface="Calibri" pitchFamily="34" charset="0"/>
                <a:ea typeface="Calibri" pitchFamily="34" charset="-122"/>
                <a:cs typeface="Calibri" pitchFamily="34" charset="-120"/>
              </a:rPr>
              <a:t>DEX Sentinel  ·  15 / 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DEX Sentinel</dc:title>
  <dc:subject>PptxGenJS Presentation</dc:subject>
  <dc:creator>Vijay Vishwanath</dc:creator>
  <cp:lastModifiedBy>Vijay Vishwanath</cp:lastModifiedBy>
  <cp:revision>1</cp:revision>
  <dcterms:created xsi:type="dcterms:W3CDTF">2026-09-30T05:49:54Z</dcterms:created>
  <dcterms:modified xsi:type="dcterms:W3CDTF">2026-09-30T05:49:54Z</dcterms:modified>
</cp:coreProperties>
</file>